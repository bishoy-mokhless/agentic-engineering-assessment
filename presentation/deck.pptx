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B9C3D6"/>
                </a:solidFill>
                <a:latin typeface="Segoe UI"/>
              </a:rPr>
              <a:t>Asteria is fictional; the workforce data is synthetic.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B9C3D6"/>
                </a:solidFill>
                <a:latin typeface="Sego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4415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FB3FF"/>
                </a:solidFill>
                <a:latin typeface="Segoe UI"/>
              </a:rPr>
              <a:t>AGENTIC ENGINEERING ASSESSMENT · SOFTWARE EMPHASIS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1094415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External signals × workforce retention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9601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B9C3D6"/>
                </a:solidFill>
                <a:latin typeface="Segoe UI"/>
              </a:rPr>
              <a:t>A small, defensible data product: three retention objectives for Asteria Consumer Products in six countries, placed next to four official labour-market signals, with what can and cannot be concluded.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1109441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B9C3D6"/>
                </a:solidFill>
                <a:latin typeface="Segoe UI"/>
              </a:rPr>
              <a:t>Bishoy Mokhless · repository: github.com/Bishoy-Mokhless/Agentic-Engineering-Assessment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PROBLEM REFINEMENT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3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From an open question to three auditable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docs/requirements_refinement.md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387187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64008" cy="960120"/>
          </a:xfrm>
          <a:prstGeom prst="rect">
            <a:avLst/>
          </a:prstGeom>
          <a:solidFill>
            <a:srgbClr val="24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5067147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Decision supported:</a:t>
            </a:r>
            <a:r>
              <a:rPr sz="1400" b="0">
                <a:solidFill>
                  <a:srgbClr val="1C1C1A"/>
                </a:solidFill>
                <a:latin typeface="Segoe UI"/>
              </a:rPr>
              <a:t> is each objective on track, and do external conditions add useful context, without over-claiming?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5387187" cy="3200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C1C1A"/>
                </a:solidFill>
                <a:latin typeface="Segoe UI"/>
              </a:rPr>
              <a:t>•  A verdict needs </a:t>
            </a:r>
            <a:r>
              <a:rPr sz="1700" b="1">
                <a:solidFill>
                  <a:srgbClr val="1C1C1A"/>
                </a:solidFill>
                <a:latin typeface="Segoe UI"/>
              </a:rPr>
              <a:t>uncertainty</a:t>
            </a:r>
            <a:r>
              <a:rPr sz="1700" b="0">
                <a:solidFill>
                  <a:srgbClr val="1C1C1A"/>
                </a:solidFill>
                <a:latin typeface="Segoe UI"/>
              </a:rPr>
              <a:t>: 95% Wilson interval → </a:t>
            </a:r>
            <a:r>
              <a:rPr sz="1700" b="0" i="1">
                <a:solidFill>
                  <a:srgbClr val="1C1C1A"/>
                </a:solidFill>
                <a:latin typeface="Segoe UI"/>
              </a:rPr>
              <a:t>met</a:t>
            </a:r>
            <a:r>
              <a:rPr sz="1700" b="0">
                <a:solidFill>
                  <a:srgbClr val="1C1C1A"/>
                </a:solidFill>
                <a:latin typeface="Segoe UI"/>
              </a:rPr>
              <a:t> / </a:t>
            </a:r>
            <a:r>
              <a:rPr sz="1700" b="0" i="1">
                <a:solidFill>
                  <a:srgbClr val="1C1C1A"/>
                </a:solidFill>
                <a:latin typeface="Segoe UI"/>
              </a:rPr>
              <a:t>not met</a:t>
            </a:r>
            <a:r>
              <a:rPr sz="1700" b="0">
                <a:solidFill>
                  <a:srgbClr val="1C1C1A"/>
                </a:solidFill>
                <a:latin typeface="Segoe UI"/>
              </a:rPr>
              <a:t> only if the whole interval is on one side, otherwise </a:t>
            </a:r>
            <a:r>
              <a:rPr sz="1700" b="0" i="1">
                <a:solidFill>
                  <a:srgbClr val="1C1C1A"/>
                </a:solidFill>
                <a:latin typeface="Segoe UI"/>
              </a:rPr>
              <a:t>inconclusive</a:t>
            </a:r>
            <a:r>
              <a:rPr sz="1700" b="0">
                <a:solidFill>
                  <a:srgbClr val="1C1C1A"/>
                </a:solidFill>
                <a:latin typeface="Segoe UI"/>
              </a:rPr>
              <a:t> (D-75)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C1C1A"/>
                </a:solidFill>
                <a:latin typeface="Segoe UI"/>
              </a:rPr>
              <a:t>•  Verdicts per year and period; quarters and months are trends only (D-76)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C1C1A"/>
                </a:solidFill>
                <a:latin typeface="Segoe UI"/>
              </a:rPr>
              <a:t>•  No forecasting, no individual explanations, no causal claims (D-63)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55867" y="1417320"/>
          <a:ext cx="5387186" cy="1024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0314"/>
                <a:gridCol w="731118"/>
                <a:gridCol w="2385754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OBJECTIVE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OUR DEFINITION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onsolas"/>
                        </a:rPr>
                        <a:t>NEW_HIRE_6M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Segoe UI"/>
                        </a:rPr>
                        <a:t>≥ 86%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Segoe UI"/>
                        </a:rPr>
                        <a:t>still employed 6 </a:t>
                      </a:r>
                      <a:r>
                        <a:rPr sz="1300" b="0" i="1">
                          <a:solidFill>
                            <a:srgbClr val="1C1C1A"/>
                          </a:solidFill>
                          <a:latin typeface="Segoe UI"/>
                        </a:rPr>
                        <a:t>calendar</a:t>
                      </a:r>
                      <a:r>
                        <a:rPr sz="1300" b="0">
                          <a:solidFill>
                            <a:srgbClr val="1C1C1A"/>
                          </a:solidFill>
                          <a:latin typeface="Segoe UI"/>
                        </a:rPr>
                        <a:t> months after hire; any exit counts; hires whose window ends after 2025-12-31 are </a:t>
                      </a:r>
                      <a:r>
                        <a:rPr sz="1300" b="0" i="1">
                          <a:solidFill>
                            <a:srgbClr val="1C1C1A"/>
                          </a:solidFill>
                          <a:latin typeface="Segoe UI"/>
                        </a:rPr>
                        <a:t>not yet measurable</a:t>
                      </a:r>
                      <a:r>
                        <a:rPr sz="1300" b="0">
                          <a:solidFill>
                            <a:srgbClr val="1C1C1A"/>
                          </a:solidFill>
                          <a:latin typeface="Segoe UI"/>
                        </a:rPr>
                        <a:t> (D-16…D-18)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onsolas"/>
                        </a:rPr>
                        <a:t>SENIOR_HIRE_12M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Segoe UI"/>
                        </a:rPr>
                        <a:t>≥ 90%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Segoe UI"/>
                        </a:rPr>
                        <a:t>same with 12 months; senior = Senior Leader, a setting (D-14, D-94)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onsolas"/>
                        </a:rPr>
                        <a:t>REGRETTED_TURNOVER_12M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Segoe UI"/>
                        </a:rPr>
                        <a:t>≤ 7.5%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Segoe UI"/>
                        </a:rPr>
                        <a:t>confirmed regretted exits in 12 months ÷ average of 13 month-end headcounts; verdict on December values (D-20, D-37)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PROBLEM REFINEMENT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3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1C1C1A"/>
                </a:solidFill>
                <a:latin typeface="Segoe UI"/>
              </a:rPr>
              <a:t>The data is deliberately imperfect: keep, flag, quarantine, never guess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service/hr_curation.py · canonical/quality_issues.parquet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5387185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4447"/>
                <a:gridCol w="718291"/>
                <a:gridCol w="2334447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ROWS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RULE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Repeated employee rows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keep latest update, log (D-07)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Country 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Consolas"/>
                        </a:rPr>
                        <a:t>EL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, 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Consolas"/>
                        </a:rPr>
                        <a:t>ROM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 / blank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8 / 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map to GR, RO / company totals only (D-08)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Level 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Consolas"/>
                        </a:rPr>
                        <a:t>Sr Mgmt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→ Senior Leader (D-13)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No hire date / left before hire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5 / 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excluded, listed (D-09)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Blank exit type, </a:t>
                      </a:r>
                      <a:r>
                        <a:rPr sz="1400" b="1">
                          <a:solidFill>
                            <a:srgbClr val="1C1C1A"/>
                          </a:solidFill>
                          <a:latin typeface="Segoe UI"/>
                        </a:rPr>
                        <a:t>exactly 90 days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 after hire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1C1A"/>
                          </a:solidFill>
                          <a:latin typeface="Segoe UI"/>
                        </a:rPr>
                        <a:t>quarantined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 + sensitivity (D-10)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Blank "regretted?" on an exit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onsolas"/>
                        </a:rPr>
                        <a:t>UNKNOWN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, never "no" (D-12)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255867" y="1417320"/>
            <a:ext cx="5387187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255867" y="1417320"/>
            <a:ext cx="64008" cy="1188720"/>
          </a:xfrm>
          <a:prstGeom prst="rect">
            <a:avLst/>
          </a:prstGeom>
          <a:solidFill>
            <a:srgbClr val="24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57035" y="1417320"/>
            <a:ext cx="5067147" cy="11887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C1C1A"/>
                </a:solidFill>
                <a:latin typeface="Segoe UI"/>
              </a:rPr>
              <a:t>Uncertain data is </a:t>
            </a:r>
            <a:r>
              <a:rPr sz="1400" b="1">
                <a:solidFill>
                  <a:srgbClr val="1C1C1A"/>
                </a:solidFill>
                <a:latin typeface="Segoe UI"/>
              </a:rPr>
              <a:t>preserved, flagged and quarantined</a:t>
            </a:r>
            <a:r>
              <a:rPr sz="1400" b="0">
                <a:solidFill>
                  <a:srgbClr val="1C1C1A"/>
                </a:solidFill>
                <a:latin typeface="Segoe UI"/>
              </a:rPr>
              <a:t> from the primary number; never deleted or imputed; its impact is shown by sensitivity analysis.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5867" y="2834640"/>
            <a:ext cx="5387187" cy="2743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C1C1A"/>
                </a:solidFill>
                <a:latin typeface="Segoe UI"/>
              </a:rPr>
              <a:t>2,407 rows → 2,400 employees:</a:t>
            </a:r>
            <a:r>
              <a:rPr sz="1600" b="0">
                <a:solidFill>
                  <a:srgbClr val="1C1C1A"/>
                </a:solidFill>
                <a:latin typeface="Segoe UI"/>
              </a:rPr>
              <a:t> 2,378 included · 12 quarantined · 10 excluded.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C1C1A"/>
                </a:solidFill>
                <a:latin typeface="Segoe UI"/>
              </a:rPr>
              <a:t>Assumptions</a:t>
            </a:r>
            <a:r>
              <a:rPr sz="1600" b="0">
                <a:solidFill>
                  <a:srgbClr val="1C1C1A"/>
                </a:solidFill>
                <a:latin typeface="Segoe UI"/>
              </a:rPr>
              <a:t> (senior level, </a:t>
            </a:r>
            <a:r>
              <a:rPr sz="1600" b="0">
                <a:solidFill>
                  <a:srgbClr val="1C1C1A"/>
                </a:solidFill>
                <a:latin typeface="Consolas"/>
              </a:rPr>
              <a:t>Sr Mgmt</a:t>
            </a:r>
            <a:r>
              <a:rPr sz="1600" b="0">
                <a:solidFill>
                  <a:srgbClr val="1C1C1A"/>
                </a:solidFill>
                <a:latin typeface="Segoe UI"/>
              </a:rPr>
              <a:t>, 90-day exits, population since 2020) are documented, and checked: </a:t>
            </a:r>
            <a:r>
              <a:rPr sz="1600" b="0" i="1">
                <a:solidFill>
                  <a:srgbClr val="1C1C1A"/>
                </a:solidFill>
                <a:latin typeface="Segoe UI"/>
              </a:rPr>
              <a:t>no verdict changes</a:t>
            </a:r>
            <a:r>
              <a:rPr sz="1600" b="0">
                <a:solidFill>
                  <a:srgbClr val="1C1C1A"/>
                </a:solidFill>
                <a:latin typeface="Segoe UI"/>
              </a:rPr>
              <a:t> under any of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ARCHITECTURE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Two flows that share only files on disk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README §2 · docs/architecture.md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4415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820095" cy="2834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FLOW A  retention run (batch job)                           FLOW B  retention serve (web app)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Eurostat API ─┐                                             Browser: dashboard/index.html + app.js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World Bank API┼─&gt; ingest ─&gt; data/raw/          untouched               │ GET /api/...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HR CSV files ─┘                │  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                               ▼ curate                     api/routers/*.py              controllers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             data/curated/source_shaped/   provider shape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                               ▼                            service/dashboard_queries.py   service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             data/curated/canonical/       clean + flags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                               ▼ metrics (SQL) · analyse    repository/curated_store.py    repository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             data/curated/analytical/      objectives,  ───────────────&gt;  reads data/curated/*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C1A"/>
                </a:solidFill>
                <a:latin typeface="Consolas"/>
              </a:rPr>
              <a:t>                                           time join,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17720"/>
            <a:ext cx="3545738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317997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Layers by 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84064"/>
            <a:ext cx="3179978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Segoe UI"/>
              </a:rPr>
              <a:t>client/ adapters · pipeline/ steps · service/ rules · repository/ storage · sql/ metrics · api/ controllers · domain/ contracts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4617720"/>
            <a:ext cx="3545738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05858" y="4754880"/>
            <a:ext cx="317997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5084064"/>
            <a:ext cx="3179978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Segoe UI"/>
              </a:rPr>
              <a:t>Python 3.11 · pandas · DuckDB SQL on Parquet · FastAPI · HTML + Chart.js · pytest + Playwright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4617720"/>
            <a:ext cx="3545738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80196" y="4754880"/>
            <a:ext cx="317997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One command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196" y="5084064"/>
            <a:ext cx="3179978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Consolas"/>
              </a:rPr>
              <a:t>retention run</a:t>
            </a:r>
            <a:r>
              <a:rPr sz="1300" b="0">
                <a:solidFill>
                  <a:srgbClr val="57564F"/>
                </a:solidFill>
                <a:latin typeface="Segoe UI"/>
              </a:rPr>
              <a:t> (offline from committed snapshots, under a minute) · </a:t>
            </a:r>
            <a:r>
              <a:rPr sz="1300" b="0">
                <a:solidFill>
                  <a:srgbClr val="57564F"/>
                </a:solidFill>
                <a:latin typeface="Consolas"/>
              </a:rPr>
              <a:t>retention serve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ARCHITECTURE · LINEAGE AND RELIABILITY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Replayable, traceable, all-or-nothing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pipeline/job.py · repository/raw_repository.py · pipeline/lineage.py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387187" cy="4754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</a:t>
            </a:r>
            <a:r>
              <a:rPr sz="1550" b="1">
                <a:solidFill>
                  <a:srgbClr val="1C1C1A"/>
                </a:solidFill>
                <a:latin typeface="Segoe UI"/>
              </a:rPr>
              <a:t>Raw is immutable:</a:t>
            </a:r>
            <a:r>
              <a:rPr sz="1550" b="0">
                <a:solidFill>
                  <a:srgbClr val="1C1C1A"/>
                </a:solidFill>
                <a:latin typeface="Segoe UI"/>
              </a:rPr>
              <a:t> each fetch = a dated folder with </a:t>
            </a:r>
            <a:r>
              <a:rPr sz="1550" b="0">
                <a:solidFill>
                  <a:srgbClr val="1C1C1A"/>
                </a:solidFill>
                <a:latin typeface="Consolas"/>
              </a:rPr>
              <a:t>payload.json</a:t>
            </a:r>
            <a:r>
              <a:rPr sz="1550" b="0">
                <a:solidFill>
                  <a:srgbClr val="1C1C1A"/>
                </a:solidFill>
                <a:latin typeface="Segoe UI"/>
              </a:rPr>
              <a:t> + </a:t>
            </a:r>
            <a:r>
              <a:rPr sz="1550" b="0">
                <a:solidFill>
                  <a:srgbClr val="1C1C1A"/>
                </a:solidFill>
                <a:latin typeface="Consolas"/>
              </a:rPr>
              <a:t>metadata.json</a:t>
            </a:r>
            <a:r>
              <a:rPr sz="1550" b="0">
                <a:solidFill>
                  <a:srgbClr val="1C1C1A"/>
                </a:solidFill>
                <a:latin typeface="Segoe UI"/>
              </a:rPr>
              <a:t> (URL, time, SHA-256); </a:t>
            </a:r>
            <a:r>
              <a:rPr sz="1550" b="0">
                <a:solidFill>
                  <a:srgbClr val="1C1C1A"/>
                </a:solidFill>
                <a:latin typeface="Consolas"/>
              </a:rPr>
              <a:t>latest.json</a:t>
            </a:r>
            <a:r>
              <a:rPr sz="1550" b="0">
                <a:solidFill>
                  <a:srgbClr val="1C1C1A"/>
                </a:solidFill>
                <a:latin typeface="Segoe UI"/>
              </a:rPr>
              <a:t> points to the one to use (D-48)</a:t>
            </a:r>
          </a:p>
          <a:p>
            <a:pPr>
              <a:spcAft>
                <a:spcPts val="10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</a:t>
            </a:r>
            <a:r>
              <a:rPr sz="1550" b="1">
                <a:solidFill>
                  <a:srgbClr val="1C1C1A"/>
                </a:solidFill>
                <a:latin typeface="Segoe UI"/>
              </a:rPr>
              <a:t>Offline by default:</a:t>
            </a:r>
            <a:r>
              <a:rPr sz="1550" b="0">
                <a:solidFill>
                  <a:srgbClr val="1C1C1A"/>
                </a:solidFill>
                <a:latin typeface="Segoe UI"/>
              </a:rPr>
              <a:t> the committed snapshots give reviewers identical numbers; </a:t>
            </a:r>
            <a:r>
              <a:rPr sz="1550" b="0">
                <a:solidFill>
                  <a:srgbClr val="1C1C1A"/>
                </a:solidFill>
                <a:latin typeface="Consolas"/>
              </a:rPr>
              <a:t>--refresh</a:t>
            </a:r>
            <a:r>
              <a:rPr sz="1550" b="0">
                <a:solidFill>
                  <a:srgbClr val="1C1C1A"/>
                </a:solidFill>
                <a:latin typeface="Segoe UI"/>
              </a:rPr>
              <a:t> fetches (D-66, D-68)</a:t>
            </a:r>
          </a:p>
          <a:p>
            <a:pPr>
              <a:spcAft>
                <a:spcPts val="10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</a:t>
            </a:r>
            <a:r>
              <a:rPr sz="1550" b="1">
                <a:solidFill>
                  <a:srgbClr val="1C1C1A"/>
                </a:solidFill>
                <a:latin typeface="Segoe UI"/>
              </a:rPr>
              <a:t>Resilient ingestion:</a:t>
            </a:r>
            <a:r>
              <a:rPr sz="1550" b="0">
                <a:solidFill>
                  <a:srgbClr val="1C1C1A"/>
                </a:solidFill>
                <a:latin typeface="Segoe UI"/>
              </a:rPr>
              <a:t> timeouts + 3 retries; a failed fetch falls back to the last good snapshot and is marked </a:t>
            </a:r>
            <a:r>
              <a:rPr sz="1550" b="0" i="1">
                <a:solidFill>
                  <a:srgbClr val="1C1C1A"/>
                </a:solidFill>
                <a:latin typeface="Segoe UI"/>
              </a:rPr>
              <a:t>stale</a:t>
            </a:r>
            <a:r>
              <a:rPr sz="1550" b="0">
                <a:solidFill>
                  <a:srgbClr val="1C1C1A"/>
                </a:solidFill>
                <a:latin typeface="Segoe UI"/>
              </a:rPr>
              <a:t>; no data at all stops the run (D-47)</a:t>
            </a:r>
          </a:p>
          <a:p>
            <a:pPr>
              <a:spcAft>
                <a:spcPts val="10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</a:t>
            </a:r>
            <a:r>
              <a:rPr sz="1550" b="1">
                <a:solidFill>
                  <a:srgbClr val="1C1C1A"/>
                </a:solidFill>
                <a:latin typeface="Segoe UI"/>
              </a:rPr>
              <a:t>All-or-nothing:</a:t>
            </a:r>
            <a:r>
              <a:rPr sz="1550" b="0">
                <a:solidFill>
                  <a:srgbClr val="1C1C1A"/>
                </a:solidFill>
                <a:latin typeface="Segoe UI"/>
              </a:rPr>
              <a:t> build in </a:t>
            </a:r>
            <a:r>
              <a:rPr sz="1550" b="0">
                <a:solidFill>
                  <a:srgbClr val="1C1C1A"/>
                </a:solidFill>
                <a:latin typeface="Consolas"/>
              </a:rPr>
              <a:t>data/.tmp/&lt;run_id&gt;</a:t>
            </a:r>
            <a:r>
              <a:rPr sz="1550" b="0">
                <a:solidFill>
                  <a:srgbClr val="1C1C1A"/>
                </a:solidFill>
                <a:latin typeface="Segoe UI"/>
              </a:rPr>
              <a:t>, publish only if every step succeeds; a failed run leaves the dashboard untouched</a:t>
            </a:r>
          </a:p>
          <a:p>
            <a:pPr>
              <a:spcAft>
                <a:spcPts val="10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</a:t>
            </a:r>
            <a:r>
              <a:rPr sz="1550" b="1">
                <a:solidFill>
                  <a:srgbClr val="1C1C1A"/>
                </a:solidFill>
                <a:latin typeface="Segoe UI"/>
              </a:rPr>
              <a:t>Lineage:</a:t>
            </a:r>
            <a:r>
              <a:rPr sz="1550" b="0">
                <a:solidFill>
                  <a:srgbClr val="1C1C1A"/>
                </a:solidFill>
                <a:latin typeface="Segoe UI"/>
              </a:rPr>
              <a:t> </a:t>
            </a:r>
            <a:r>
              <a:rPr sz="1550" b="0">
                <a:solidFill>
                  <a:srgbClr val="1C1C1A"/>
                </a:solidFill>
                <a:latin typeface="Consolas"/>
              </a:rPr>
              <a:t>_build.json</a:t>
            </a:r>
            <a:r>
              <a:rPr sz="1550" b="0">
                <a:solidFill>
                  <a:srgbClr val="1C1C1A"/>
                </a:solidFill>
                <a:latin typeface="Segoe UI"/>
              </a:rPr>
              <a:t> per layer (run id, inputs, outputs, checksums); every HR row keeps its CSV line number</a:t>
            </a:r>
          </a:p>
          <a:p>
            <a:pPr>
              <a:spcAft>
                <a:spcPts val="10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</a:t>
            </a:r>
            <a:r>
              <a:rPr sz="1550" b="1">
                <a:solidFill>
                  <a:srgbClr val="1C1C1A"/>
                </a:solidFill>
                <a:latin typeface="Segoe UI"/>
              </a:rPr>
              <a:t>Contracts:</a:t>
            </a:r>
            <a:r>
              <a:rPr sz="1550" b="0">
                <a:solidFill>
                  <a:srgbClr val="1C1C1A"/>
                </a:solidFill>
                <a:latin typeface="Segoe UI"/>
              </a:rPr>
              <a:t> every table passes a schema check before it is written; an unknown code stops the run with "add a mapping row"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5867" y="1417320"/>
            <a:ext cx="5387187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Segoe UI"/>
              </a:rPr>
              <a:t>Following one employee, ACP001733: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55867" y="1783080"/>
          <a:ext cx="5387187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5729"/>
                <a:gridCol w="3591458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LAYER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BECOMES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raw CSV line 1734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onsolas"/>
                        </a:rPr>
                        <a:t>ROM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, hired 2024-09-17, left 2025-01-28, voluntary, regretted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source-shaped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same values, 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Consolas"/>
                        </a:rPr>
                        <a:t>ROM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 kept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canonical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onsolas"/>
                        </a:rPr>
                        <a:t>RO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 (source 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Consolas"/>
                        </a:rPr>
                        <a:t>ROM</a:t>
                      </a:r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), flag COUNTRY_CODE_MAPPED, logged D-08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hire_outcomes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window ends 2025-03-17 → </a:t>
                      </a:r>
                      <a:r>
                        <a:rPr sz="1400" b="1">
                          <a:solidFill>
                            <a:srgbClr val="1C1C1A"/>
                          </a:solidFill>
                          <a:latin typeface="Segoe UI"/>
                        </a:rPr>
                        <a:t>not retained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cohorts / turnover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inside 87.5% and inside the 82 regretted exits of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ARCHITECTURE · TEMPORAL ALIGNMENT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No future information: the "newspaper rule"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service/alignment.py · sql/as_of_join.sql · docs/source_register.md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387187" cy="4023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C1C1A"/>
                </a:solidFill>
                <a:latin typeface="Segoe UI"/>
              </a:rPr>
              <a:t>•  Each cohort has an </a:t>
            </a:r>
            <a:r>
              <a:rPr sz="1700" b="1">
                <a:solidFill>
                  <a:srgbClr val="1C1C1A"/>
                </a:solidFill>
                <a:latin typeface="Segoe UI"/>
              </a:rPr>
              <a:t>as-of date</a:t>
            </a:r>
            <a:r>
              <a:rPr sz="1700" b="0">
                <a:solidFill>
                  <a:srgbClr val="1C1C1A"/>
                </a:solidFill>
                <a:latin typeface="Segoe UI"/>
              </a:rPr>
              <a:t>: the start of its hire quarter (turnover: start of its 12-month window) (D-28, D-38)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C1C1A"/>
                </a:solidFill>
                <a:latin typeface="Segoe UI"/>
              </a:rPr>
              <a:t>•  A value is usable from </a:t>
            </a:r>
            <a:r>
              <a:rPr sz="1700" b="0">
                <a:solidFill>
                  <a:srgbClr val="1C1C1A"/>
                </a:solidFill>
                <a:latin typeface="Consolas"/>
              </a:rPr>
              <a:t>period end + lag</a:t>
            </a:r>
            <a:r>
              <a:rPr sz="1700" b="0">
                <a:solidFill>
                  <a:srgbClr val="1C1C1A"/>
                </a:solidFill>
                <a:latin typeface="Segoe UI"/>
              </a:rPr>
              <a:t>; lags </a:t>
            </a:r>
            <a:r>
              <a:rPr sz="1700" b="1">
                <a:solidFill>
                  <a:srgbClr val="1C1C1A"/>
                </a:solidFill>
                <a:latin typeface="Segoe UI"/>
              </a:rPr>
              <a:t>measured</a:t>
            </a:r>
            <a:r>
              <a:rPr sz="1700" b="0">
                <a:solidFill>
                  <a:srgbClr val="1C1C1A"/>
                </a:solidFill>
                <a:latin typeface="Segoe UI"/>
              </a:rPr>
              <a:t> from the APIs and rounded up: monthly +2, quarterly +3, annual +7 months (D-29, D-58)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700" b="1">
                <a:solidFill>
                  <a:srgbClr val="1C1C1A"/>
                </a:solidFill>
                <a:latin typeface="Segoe UI"/>
              </a:rPr>
              <a:t>ASOF join</a:t>
            </a:r>
            <a:r>
              <a:rPr sz="1700" b="0">
                <a:solidFill>
                  <a:srgbClr val="1C1C1A"/>
                </a:solidFill>
                <a:latin typeface="Segoe UI"/>
              </a:rPr>
              <a:t>: the newest value already usable on the as-of date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C1C1A"/>
                </a:solidFill>
                <a:latin typeface="Segoe UI"/>
              </a:rPr>
              <a:t>•  Annual GDP carried forward </a:t>
            </a:r>
            <a:r>
              <a:rPr sz="1700" b="1">
                <a:solidFill>
                  <a:srgbClr val="1C1C1A"/>
                </a:solidFill>
                <a:latin typeface="Segoe UI"/>
              </a:rPr>
              <a:t>with its own period, frequency and age</a:t>
            </a:r>
            <a:r>
              <a:rPr sz="1700" b="0">
                <a:solidFill>
                  <a:srgbClr val="1C1C1A"/>
                </a:solidFill>
                <a:latin typeface="Segoe UI"/>
              </a:rPr>
              <a:t>, never as new quarterly values (D-31)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5387187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7564F"/>
                </a:solidFill>
                <a:latin typeface="Segoe UI"/>
              </a:rPr>
              <a:t>Limitation: APIs return today's revised values, not historical vintages.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55867" y="1417320"/>
          <a:ext cx="5387184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6796"/>
                <a:gridCol w="925922"/>
                <a:gridCol w="1262621"/>
                <a:gridCol w="1851845"/>
              </a:tblGrid>
              <a:tr h="256032">
                <a:tc gridSpan="4"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RO 2024-Q3 COHORT, AS OF 2024-07-01 (82.1%, 28 HIRES)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VALUE USED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FROM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WHY NOT NEWER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Unemployment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2024-04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May usable only from 31 Jul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HICP inflation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2024-04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same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Job vacancy rate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0.7%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2024-Q1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Q2 usable from 30 Sep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GDP growth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4.19%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2022 (19 months old)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C1C1A"/>
                          </a:solidFill>
                          <a:latin typeface="Segoe UI"/>
                        </a:rPr>
                        <a:t>2023 usable from 31 Jul 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ARCHITECTURE · QUALITY OF THE ENGINEERING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186 tests across service, API and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tests/unit · tests/api · tests/ui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4573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17997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Segoe UI"/>
              </a:rPr>
              <a:t>105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21408"/>
            <a:ext cx="317997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50592"/>
            <a:ext cx="3179978" cy="10698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Segoe UI"/>
              </a:rPr>
              <a:t>cleaning rules, parsing, the metric SQL on hand-made tables, Wilson and verdicts, no-future-information join, association statistics, contracts, ingest statuses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417320"/>
            <a:ext cx="354573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05858" y="1554480"/>
            <a:ext cx="317997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Segoe UI"/>
              </a:rPr>
              <a:t>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5858" y="2121408"/>
            <a:ext cx="317997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2450592"/>
            <a:ext cx="3179978" cy="10698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Segoe UI"/>
              </a:rPr>
              <a:t>every endpoint via TestClient on data built by the real offline pipeline; 400 / 404 / 503 errors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1417320"/>
            <a:ext cx="354573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80196" y="1554480"/>
            <a:ext cx="317997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Segoe U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196" y="2121408"/>
            <a:ext cx="317997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browser (Playwright)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6" y="2450592"/>
            <a:ext cx="3179978" cy="10698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Segoe UI"/>
              </a:rPr>
              <a:t>views, filters, empty and error states, API outage, keyboard tabs, table twins of every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86200"/>
            <a:ext cx="11094415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Tests shown to </a:t>
            </a:r>
            <a:r>
              <a:rPr sz="1600" b="1">
                <a:solidFill>
                  <a:srgbClr val="1C1C1A"/>
                </a:solidFill>
                <a:latin typeface="Segoe UI"/>
              </a:rPr>
              <a:t>catch breakage</a:t>
            </a:r>
            <a:r>
              <a:rPr sz="1600" b="0">
                <a:solidFill>
                  <a:srgbClr val="1C1C1A"/>
                </a:solidFill>
                <a:latin typeface="Segoe UI"/>
              </a:rPr>
              <a:t> (deliberate breakages failed 1 and 5 tests); later changes written test-first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A browser sweep of </a:t>
            </a:r>
            <a:r>
              <a:rPr sz="1600" b="1">
                <a:solidFill>
                  <a:srgbClr val="1C1C1A"/>
                </a:solidFill>
                <a:latin typeface="Segoe UI"/>
              </a:rPr>
              <a:t>198 dashboard states</a:t>
            </a:r>
            <a:r>
              <a:rPr sz="1600" b="0">
                <a:solidFill>
                  <a:srgbClr val="1C1C1A"/>
                </a:solidFill>
                <a:latin typeface="Segoe UI"/>
              </a:rPr>
              <a:t> before finishing; bugs found were fixed with regression tests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0">
                <a:solidFill>
                  <a:srgbClr val="1C1C1A"/>
                </a:solidFill>
                <a:latin typeface="Consolas"/>
              </a:rPr>
              <a:t>ruff</a:t>
            </a:r>
            <a:r>
              <a:rPr sz="1600" b="0">
                <a:solidFill>
                  <a:srgbClr val="1C1C1A"/>
                </a:solidFill>
                <a:latin typeface="Segoe UI"/>
              </a:rPr>
              <a:t> lint + format; 12 acceptance criteria mapped to tests (docs/requirements_refinement.md)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DASHBOARD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4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Overview: the decision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retention serve → http://127.0.0.1:8000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99032"/>
            <a:ext cx="6757416" cy="3454753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01_overview_1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6720840" cy="341817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417320"/>
          <a:ext cx="4053534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1178"/>
                <a:gridCol w="2702356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BRIEF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DASHBOARD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Explore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Explore › Objective detail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Understand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Explore › Market signals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Challenge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Explore › Relationships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Trust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3246120"/>
            <a:ext cx="4053535" cy="2743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Filters: country, years, workforce segment (combinable), data treatment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Every number has its interval, n and verdict; every chart has a table twin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Filters a view does not use are disabled and explained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KEY FINDINGS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4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What the data says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docs/methodology.md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4573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17997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Segoe UI"/>
              </a:rPr>
              <a:t>78.2%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21408"/>
            <a:ext cx="317997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Senior-hire 12 months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5059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B3261E"/>
                </a:solidFill>
                <a:latin typeface="Segoe UI"/>
              </a:rPr>
              <a:t>✗ Not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16352"/>
            <a:ext cx="3179978" cy="10241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Segoe UI"/>
              </a:rPr>
              <a:t>208/266, CI 72.9–82.7% vs ≥ 90%. Not met every year 2021–24, in all 6 segments, and even if Managers count as senior (81.3%).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417320"/>
            <a:ext cx="354573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05858" y="1554480"/>
            <a:ext cx="317997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Segoe UI"/>
              </a:rPr>
              <a:t>87.5%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2121408"/>
            <a:ext cx="317997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New-hire 6 months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5858" y="245059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D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9A6A00"/>
                </a:solidFill>
                <a:latin typeface="Segoe UI"/>
              </a:rPr>
              <a:t>≈ Inconclusive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5858" y="2816352"/>
            <a:ext cx="3179978" cy="10241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Segoe UI"/>
              </a:rPr>
              <a:t>1,579/1,804, CI 85.9–89.0% includes 86%. Met for Permanent (88.0%) and Manager (91.1%) hires. 148 of 225 early leavers left voluntarily.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7316" y="1417320"/>
            <a:ext cx="354573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80196" y="1554480"/>
            <a:ext cx="317997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Segoe UI"/>
              </a:rPr>
              <a:t>5.11%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0196" y="2121408"/>
            <a:ext cx="317997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Regretted turnover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0196" y="245059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5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1F7A4D"/>
                </a:solidFill>
                <a:latin typeface="Segoe UI"/>
              </a:rPr>
              <a:t>✓ Met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6" y="2816352"/>
            <a:ext cx="3179978" cy="10241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7564F"/>
                </a:solidFill>
                <a:latin typeface="Segoe UI"/>
              </a:rPr>
              <a:t>82 / 1,603 in 2025 vs ≤ 7.5%, but up from 3.30% in 2024; RO 6.7%, IE 6.3%, BG 6.1% inconclusive.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14800"/>
            <a:ext cx="1109441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48640" y="4114800"/>
            <a:ext cx="64008" cy="1143000"/>
          </a:xfrm>
          <a:prstGeom prst="rect">
            <a:avLst/>
          </a:prstGeom>
          <a:solidFill>
            <a:srgbClr val="24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10774375" cy="11430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C1C1A"/>
                </a:solidFill>
                <a:latin typeface="Segoe UI"/>
              </a:rPr>
              <a:t>Non-finding:</a:t>
            </a:r>
            <a:r>
              <a:rPr sz="1400" b="0">
                <a:solidFill>
                  <a:srgbClr val="1C1C1A"/>
                </a:solidFill>
                <a:latin typeface="Segoe UI"/>
              </a:rPr>
              <a:t> none of the 12 formal within-country tests shows a clear association after Holm correction. Turnover vs inflation: p = 0.03 alone, </a:t>
            </a:r>
            <a:r>
              <a:rPr sz="1400" b="1">
                <a:solidFill>
                  <a:srgbClr val="1C1C1A"/>
                </a:solidFill>
                <a:latin typeface="Segoe UI"/>
              </a:rPr>
              <a:t>0.12</a:t>
            </a:r>
            <a:r>
              <a:rPr sz="1400" b="0">
                <a:solidFill>
                  <a:srgbClr val="1C1C1A"/>
                </a:solidFill>
                <a:latin typeface="Segoe UI"/>
              </a:rPr>
              <a:t> after correcting for 4 tests. Unemployment trends with time (ρ −0.71): a plausible confounder. Associative, never causal.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57564F"/>
                </a:solidFill>
                <a:latin typeface="Segoe UI"/>
              </a:rPr>
              <a:t>Data health:</a:t>
            </a:r>
            <a:r>
              <a:rPr sz="1300" b="0">
                <a:solidFill>
                  <a:srgbClr val="57564F"/>
                </a:solidFill>
                <a:latin typeface="Segoe UI"/>
              </a:rPr>
              <a:t> counting the 12 unverified exits or the unknown "regretted" values changes no verdict.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DASHBOARD · CHALLENGE THE RELATIONSHIP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4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Relationships: honest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service/association.py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99032"/>
            <a:ext cx="6757416" cy="470001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06_relationships_2_bottom.png"/>
          <p:cNvPicPr>
            <a:picLocks noChangeAspect="1"/>
          </p:cNvPicPr>
          <p:nvPr/>
        </p:nvPicPr>
        <p:blipFill>
          <a:blip r:embed="rId2"/>
          <a:srcRect b="36332"/>
          <a:stretch>
            <a:fillRect/>
          </a:stretch>
        </p:blipFill>
        <p:spPr>
          <a:xfrm>
            <a:off x="548640" y="1417320"/>
            <a:ext cx="672084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417320"/>
            <a:ext cx="4053535" cy="4663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</a:t>
            </a:r>
            <a:r>
              <a:rPr sz="1550" b="1">
                <a:solidFill>
                  <a:srgbClr val="1C1C1A"/>
                </a:solidFill>
                <a:latin typeface="Segoe UI"/>
              </a:rPr>
              <a:t>Within-country</a:t>
            </a:r>
            <a:r>
              <a:rPr sz="1550" b="0">
                <a:solidFill>
                  <a:srgbClr val="1C1C1A"/>
                </a:solidFill>
                <a:latin typeface="Segoe UI"/>
              </a:rPr>
              <a:t> Spearman: each country compared with its own average, so rich-vs-poor differences cannot fake a pattern (D-54)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</a:t>
            </a:r>
            <a:r>
              <a:rPr sz="1550" b="1">
                <a:solidFill>
                  <a:srgbClr val="1C1C1A"/>
                </a:solidFill>
                <a:latin typeface="Segoe UI"/>
              </a:rPr>
              <a:t>Holm correction</a:t>
            </a:r>
            <a:r>
              <a:rPr sz="1550" b="0">
                <a:solidFill>
                  <a:srgbClr val="1C1C1A"/>
                </a:solidFill>
                <a:latin typeface="Segoe UI"/>
              </a:rPr>
              <a:t> over 4 tests per objective (D-34, D-55)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Bootstrap intervals labelled </a:t>
            </a:r>
            <a:r>
              <a:rPr sz="1550" b="1">
                <a:solidFill>
                  <a:srgbClr val="1C1C1A"/>
                </a:solidFill>
                <a:latin typeface="Segoe UI"/>
              </a:rPr>
              <a:t>exploratory</a:t>
            </a:r>
            <a:r>
              <a:rPr sz="1550" b="0">
                <a:solidFill>
                  <a:srgbClr val="1C1C1A"/>
                </a:solidFill>
                <a:latin typeface="Segoe UI"/>
              </a:rPr>
              <a:t>: rows are not independent (D-56)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New-hire = primary evidence; senior and turnover = secondary, low power (D-35)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Ireland kept everywhere, left out only of the GDP test, and it says so (D-59)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1C1C1A"/>
                </a:solidFill>
                <a:latin typeface="Segoe UI"/>
              </a:rPr>
              <a:t>•  Wording rules: "did not show a clear association", never "proves no relationship" (D-63)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TRADE-OFFS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3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Deliberate cuts and known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README §8 · docs/requirements_refinement.md §6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387187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C1C1A"/>
                </a:solidFill>
                <a:latin typeface="Segoe UI"/>
              </a:rPr>
              <a:t>Chosen and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387187" cy="4114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Plain HTML + small API</a:t>
            </a:r>
            <a:r>
              <a:rPr sz="1600" b="0">
                <a:solidFill>
                  <a:srgbClr val="1C1C1A"/>
                </a:solidFill>
                <a:latin typeface="Segoe UI"/>
              </a:rPr>
              <a:t> over Streamlit / static JSON: literal "HTML", testable service boundary (D-04, D-05)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DuckDB on Parquet</a:t>
            </a:r>
            <a:r>
              <a:rPr sz="1600" b="0">
                <a:solidFill>
                  <a:srgbClr val="1C1C1A"/>
                </a:solidFill>
                <a:latin typeface="Segoe UI"/>
              </a:rPr>
              <a:t>: real SQL, no server, reviewer-friendly (D-03, D-41)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As known at hire</a:t>
            </a:r>
            <a:r>
              <a:rPr sz="1600" b="0">
                <a:solidFill>
                  <a:srgbClr val="1C1C1A"/>
                </a:solidFill>
                <a:latin typeface="Segoe UI"/>
              </a:rPr>
              <a:t> over conditions during the window: no hindsight (D-28)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Descriptive + rank tests</a:t>
            </a:r>
            <a:r>
              <a:rPr sz="1600" b="0">
                <a:solidFill>
                  <a:srgbClr val="1C1C1A"/>
                </a:solidFill>
                <a:latin typeface="Segoe UI"/>
              </a:rPr>
              <a:t> over regression / survival models: small, dependent samples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No CI</a:t>
            </a:r>
            <a:r>
              <a:rPr sz="1600" b="0">
                <a:solidFill>
                  <a:srgbClr val="1C1C1A"/>
                </a:solidFill>
                <a:latin typeface="Segoe UI"/>
              </a:rPr>
              <a:t> in the timebox; tests run locally (D-64)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1417320"/>
            <a:ext cx="5387187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C1C1A"/>
                </a:solidFill>
                <a:latin typeface="Segoe UI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1828800"/>
            <a:ext cx="5387187" cy="4114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Population = hires since 2020; early-2021 turnover is a ramp-up effect (D-23)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Unconfirmed assumptions (senior, </a:t>
            </a:r>
            <a:r>
              <a:rPr sz="1600" b="0">
                <a:solidFill>
                  <a:srgbClr val="1C1C1A"/>
                </a:solidFill>
                <a:latin typeface="Consolas"/>
              </a:rPr>
              <a:t>Sr Mgmt</a:t>
            </a:r>
            <a:r>
              <a:rPr sz="1600" b="0">
                <a:solidFill>
                  <a:srgbClr val="1C1C1A"/>
                </a:solidFill>
                <a:latin typeface="Segoe UI"/>
              </a:rPr>
              <a:t>, 90-day exits), each shown not to change a verdict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Fixed-lag approximations; revised values, no vintages (D-58)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7–29 hires per country-quarter; rows unweighted (D-80)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HICP dataset discontinued (successor documented); Irish GDP distorted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AI USAGE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3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Directing, challenging and verifying the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AI_USAGE.md · docs/decision_log.md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387187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400" b="1">
                <a:solidFill>
                  <a:srgbClr val="1C1C1A"/>
                </a:solidFill>
                <a:latin typeface="Segoe UI"/>
              </a:rPr>
              <a:t>Every decision as a question I answer</a:t>
            </a:r>
            <a:r>
              <a:rPr sz="1400" b="0">
                <a:solidFill>
                  <a:srgbClr val="1C1C1A"/>
                </a:solidFill>
                <a:latin typeface="Segoe UI"/>
              </a:rPr>
              <a:t> (D-00); real problem rows before each data decision (D-06); every decision (D-00 … D-94) logged with options and reasons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C1C1A"/>
                </a:solidFill>
                <a:latin typeface="Segoe UI"/>
              </a:rPr>
              <a:t>•  Step by step with recaps; commits only after my OK; delegated steps logged every agent choice (D-82)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C1C1A"/>
                </a:solidFill>
                <a:latin typeface="Segoe UI"/>
              </a:rPr>
              <a:t>•  Claude Code as the coding agent; ChatGPT for explanations only (no code or data shared); web search for data topics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40"/>
            <a:ext cx="5387187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C1C1A"/>
                </a:solidFill>
                <a:latin typeface="Segoe UI"/>
              </a:rPr>
              <a:t>Caught by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5387187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C1C1A"/>
                </a:solidFill>
                <a:latin typeface="Segoe UI"/>
              </a:rPr>
              <a:t>•  Agent's guessed dataset code </a:t>
            </a:r>
            <a:r>
              <a:rPr sz="1400" b="0">
                <a:solidFill>
                  <a:srgbClr val="1C1C1A"/>
                </a:solidFill>
                <a:latin typeface="Consolas"/>
              </a:rPr>
              <a:t>JOBRATE</a:t>
            </a:r>
            <a:r>
              <a:rPr sz="1400" b="0">
                <a:solidFill>
                  <a:srgbClr val="1C1C1A"/>
                </a:solidFill>
                <a:latin typeface="Segoe UI"/>
              </a:rPr>
              <a:t> returned zero values → </a:t>
            </a:r>
            <a:r>
              <a:rPr sz="1400" b="0">
                <a:solidFill>
                  <a:srgbClr val="1C1C1A"/>
                </a:solidFill>
                <a:latin typeface="Consolas"/>
              </a:rPr>
              <a:t>JVR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C1C1A"/>
                </a:solidFill>
                <a:latin typeface="Segoe UI"/>
              </a:rPr>
              <a:t>•  Agent's preview statistic wrong (RO 2021 turnover 8.3% → 6.6%); finding withdrawn (C-01)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C1C1A"/>
                </a:solidFill>
                <a:latin typeface="Segoe UI"/>
              </a:rPr>
              <a:t>•  Bugs found on the real page, fixed with regression tests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55867" y="1417320"/>
          <a:ext cx="5387186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3593"/>
                <a:gridCol w="2693593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AGENT SUGGESTED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7564F"/>
                          </a:solidFill>
                          <a:latin typeface="Segoe UI"/>
                        </a:rPr>
                        <a:t>I DECIDED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Data emphasis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Software emphasis (D-01)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Streamlit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HTML + Chart.js (D-04)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Static JSON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FastAPI service (D-05)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90-day exits as placeholders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quarantine + sensitivity (D-10)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Unknown regretted = "no"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keep UNKNOWN (D-12)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Test new-hire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all three, with a hierarchy (D-35)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8-test Holm families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4 within-country tests (D-55)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A distinctive redesign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Segoe UI"/>
                        </a:rPr>
                        <a:t>rejected after seeing it (D-85)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458B3"/>
                </a:solidFill>
                <a:latin typeface="Segoe UI"/>
              </a:rPr>
              <a:t>NEXT STEPS</a:t>
            </a:r>
            <a:r>
              <a:rPr sz="1100" b="1">
                <a:solidFill>
                  <a:srgbClr val="2458B3"/>
                </a:solidFill>
                <a:latin typeface="Segoe UI"/>
              </a:rPr>
              <a:t>  ·  3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Segoe UI"/>
              </a:rPr>
              <a:t>From laptop to production, and what evidence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docs/architecture.md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7564F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387187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C1C1A"/>
                </a:solidFill>
                <a:latin typeface="Segoe UI"/>
              </a:rPr>
              <a:t>Production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387187" cy="4114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ADF</a:t>
            </a:r>
            <a:r>
              <a:rPr sz="1600" b="0">
                <a:solidFill>
                  <a:srgbClr val="1C1C1A"/>
                </a:solidFill>
                <a:latin typeface="Segoe UI"/>
              </a:rPr>
              <a:t> schedules and orchestrates the four steps; retries; event trigger for the HR extract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Databricks lakehouse</a:t>
            </a:r>
            <a:r>
              <a:rPr sz="1600" b="0">
                <a:solidFill>
                  <a:srgbClr val="1C1C1A"/>
                </a:solidFill>
                <a:latin typeface="Segoe UI"/>
              </a:rPr>
              <a:t>: landing (immutable) → bronze → silver → gold Delta tables; same SQL; expectations for contracts; Unity Catalog lineage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Power BI</a:t>
            </a:r>
            <a:r>
              <a:rPr sz="1600" b="0">
                <a:solidFill>
                  <a:srgbClr val="1C1C1A"/>
                </a:solidFill>
                <a:latin typeface="Segoe UI"/>
              </a:rPr>
              <a:t> on gold; row-level security by country; small-group suppression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Key Vault</a:t>
            </a:r>
            <a:r>
              <a:rPr sz="1600" b="0">
                <a:solidFill>
                  <a:srgbClr val="1C1C1A"/>
                </a:solidFill>
                <a:latin typeface="Segoe UI"/>
              </a:rPr>
              <a:t> + managed identities; </a:t>
            </a:r>
            <a:r>
              <a:rPr sz="1600" b="1">
                <a:solidFill>
                  <a:srgbClr val="1C1C1A"/>
                </a:solidFill>
                <a:latin typeface="Segoe UI"/>
              </a:rPr>
              <a:t>Log Analytics</a:t>
            </a:r>
            <a:r>
              <a:rPr sz="1600" b="0">
                <a:solidFill>
                  <a:srgbClr val="1C1C1A"/>
                </a:solidFill>
                <a:latin typeface="Segoe UI"/>
              </a:rPr>
              <a:t> alerts (failed run, stale source, new unmapped codes)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</a:t>
            </a:r>
            <a:r>
              <a:rPr sz="1600" b="1">
                <a:solidFill>
                  <a:srgbClr val="1C1C1A"/>
                </a:solidFill>
                <a:latin typeface="Segoe UI"/>
              </a:rPr>
              <a:t>Git + CI/CD</a:t>
            </a:r>
            <a:r>
              <a:rPr sz="1600" b="0">
                <a:solidFill>
                  <a:srgbClr val="1C1C1A"/>
                </a:solidFill>
                <a:latin typeface="Segoe UI"/>
              </a:rPr>
              <a:t>, dev → test → prod on replay snapshots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1417320"/>
            <a:ext cx="5387187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C1C1A"/>
                </a:solidFill>
                <a:latin typeface="Segoe UI"/>
              </a:rPr>
              <a:t>Evidence that would settle more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1828800"/>
            <a:ext cx="5387187" cy="4114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Confirm the assumptions with HR (senior levels, </a:t>
            </a:r>
            <a:r>
              <a:rPr sz="1600" b="0">
                <a:solidFill>
                  <a:srgbClr val="1C1C1A"/>
                </a:solidFill>
                <a:latin typeface="Consolas"/>
              </a:rPr>
              <a:t>Sr Mgmt</a:t>
            </a:r>
            <a:r>
              <a:rPr sz="1600" b="0">
                <a:solidFill>
                  <a:srgbClr val="1C1C1A"/>
                </a:solidFill>
                <a:latin typeface="Segoe UI"/>
              </a:rPr>
              <a:t>, 90-day exits, full workforce)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Exit reasons (interviews, surveys) to explain </a:t>
            </a:r>
            <a:r>
              <a:rPr sz="1600" b="0" i="1">
                <a:solidFill>
                  <a:srgbClr val="1C1C1A"/>
                </a:solidFill>
                <a:latin typeface="Segoe UI"/>
              </a:rPr>
              <a:t>why</a:t>
            </a:r>
            <a:r>
              <a:rPr sz="1600" b="0">
                <a:solidFill>
                  <a:srgbClr val="1C1C1A"/>
                </a:solidFill>
                <a:latin typeface="Segoe UI"/>
              </a:rPr>
              <a:t> hires leave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New-hire verdict: about 1,982 mature hires at the same rate would exclude the target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C1C1A"/>
                </a:solidFill>
                <a:latin typeface="Segoe UI"/>
              </a:rPr>
              <a:t>•  Longer history per country; a model controlling for time; data vintages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018001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B9C3D6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B9C3D6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FB3FF"/>
                </a:solidFill>
                <a:latin typeface="Segoe U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515600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Senior retention is clearly below target; new-hire retention cannot yet be called; regretted turnover is met but rising.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100584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B9C3D6"/>
                </a:solidFill>
                <a:latin typeface="Segoe UI"/>
              </a:rPr>
              <a:t>The external signals show no clear association in this sample, and every number carries its uncertainty, its lineage and the assumptions it rests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B9C3D6"/>
                </a:solidFill>
                <a:latin typeface="Segoe UI"/>
              </a:rPr>
              <a:t>Questions · repository README · docs/ · AI_USAGE.md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