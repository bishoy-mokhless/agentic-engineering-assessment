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20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line: this is a small data product that answers one question honestly.</a:t>
            </a:r>
          </a:p>
          <a:p>
            <a:r>
              <a:t>Structure: 3 min problem, 5 min architecture, 4 min dashboard and findings, 3 min trade-offs, AI and next steps.</a:t>
            </a:r>
          </a:p>
          <a:p>
            <a:r>
              <a:t>Signals: unemployment, HICP inflation, job vacancy rate (Eurostat) and GDP growth (World Bank).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verdict rule D-75 (95% Wilson interval); verdicts per year and for the whole period, quarters and months are trend only (D-76).</a:t>
            </a:r>
          </a:p>
          <a:p>
            <a:r>
              <a:t>Diagram values: senior 78.2% (72.9-82.7%), new-hire 87.5% (85.9-89.0%), regretted turnover 5.11% (4.14-6.30%), company, 2021-2025 / 2025.</a:t>
            </a:r>
          </a:p>
          <a:p>
            <a:r>
              <a:t>Out of scope on purpose: forecasting, explaining individual exits, causal claims (D-63).</a:t>
            </a:r>
          </a:p>
          <a:p>
            <a:r>
              <a:t>File: docs/requirements_refinement.md sections 1 and 5 (12 acceptance criteria).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calendar months D-16 (31 Aug + 6 months = 28 Feb); any exit counts D-17; not yet measurable (censoring) D-18.</a:t>
            </a:r>
          </a:p>
          <a:p>
            <a:r>
              <a:t>Senior = Senior Leader D-14, made a setting in config/settings.yaml metrics.senior_levels (D-94).</a:t>
            </a:r>
          </a:p>
          <a:p>
            <a:r>
              <a:t>Turnover denominator = average of 13 month-end headcounts D-20/D-21; December-only verdicts D-37; UNKNOWN regretted D-12.</a:t>
            </a:r>
          </a:p>
          <a:p>
            <a:r>
              <a:t>Code: src/retention/sql/hire_outcomes.sql, retention_cohorts.sql, regretted_turnover.sql.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repeats D-07; country codes D-08 (config/mappings/country_codes.csv); Sr Mgmt D-13; invalid dates D-09;</a:t>
            </a:r>
          </a:p>
          <a:p>
            <a:r>
              <a:t>90-day exits D-10 and D-57 (flag UNVERIFIED_EXIT, never called fake); blank exit type at other tenures D-11; UNKNOWN regretted D-12, worst case D-72.</a:t>
            </a:r>
          </a:p>
          <a:p>
            <a:r>
              <a:t>The quality report is data/curated/canonical/quality_report.json; issues in canonical/quality_issues.parquet.</a:t>
            </a:r>
          </a:p>
          <a:p>
            <a:r>
              <a:t>Code: src/retention/service/hr_curation.py.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layers D-41 and D-71..D-73; code organised by layer (D-40): client/, pipeline/, service/, repository/, sql/, api/, domain/.</a:t>
            </a:r>
          </a:p>
          <a:p>
            <a:r>
              <a:t>The two flows share only files in data/curated/, so the dashboard never reads half-built data.</a:t>
            </a:r>
          </a:p>
          <a:p>
            <a:r>
              <a:t>Why HTML + a small API: D-04, D-05. Why DuckDB on Parquet: D-03. One command: D-43.</a:t>
            </a:r>
          </a:p>
          <a:p>
            <a:r>
              <a:t>Diagram also in README section 2; production view in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temp build and swap D-48 (data/.tmp/&lt;run_id&gt;); lineage _build.json with SHA-256 per layer (D-74); run_summary.json.</a:t>
            </a:r>
          </a:p>
          <a:p>
            <a:r>
              <a:t>Ingestion: timeouts and 3 retries with backoff (D-47); HTTP 200 with no observations counts as a failure.</a:t>
            </a:r>
          </a:p>
          <a:p>
            <a:r>
              <a:t>Statuses D-62 and D-68. Offline by default from committed snapshots (D-66), --refresh fetches live data into a new dated folder.</a:t>
            </a:r>
          </a:p>
          <a:p>
            <a:r>
              <a:t>Rerun check: all data files and the quality report came out byte-identical; only run id and time records change.</a:t>
            </a:r>
          </a:p>
          <a:p>
            <a:r>
              <a:t>Code: src/retention/pipeline/job.py, repository/raw_repository.py, pipeline/lineage.py.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every HR row keeps its CSV line number (source_row); canonical keeps source_country_code; flag COUNTRY_CODE_MAPPED, logged as D-08.</a:t>
            </a:r>
          </a:p>
          <a:p>
            <a:r>
              <a:t>Window end: 17 Sep 2024 + 6 calendar months = 17 Mar 2025 (D-16); exit on 28 Jan 2025 is before it (D-17).</a:t>
            </a:r>
          </a:p>
          <a:p>
            <a:r>
              <a:t>Tables: source_shaped/hr_events.parquet -&gt; canonical/employees.parquet -&gt; analytical/hire_outcomes.parquet -&gt; retention_cohorts / regretted_turnover.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as-of date = first day of the hire quarter (senior: 1 January of the hire year; turnover: start of its 12-month window) D-28, D-36, D-38.</a:t>
            </a:r>
          </a:p>
          <a:p>
            <a:r>
              <a:t>Usable from last_day(period_end + lag); lags D-29, measured D-58 (unemployment ~2 months, HICP ~1-1.5, job vacancies ~3, World Bank GDP ~6.5).</a:t>
            </a:r>
          </a:p>
          <a:p>
            <a:r>
              <a:t>Values used for RO 2024-Q3: unemployment 2024-04 (5.2%), inflation 2024-04, job vacancies 2024-Q1, GDP 2022 (4.19%).</a:t>
            </a:r>
          </a:p>
          <a:p>
            <a:r>
              <a:t>The join is a DuckDB ASOF JOIN: src/retention/sql/as_of_join.sql; carried-forward GDP keeps period, frequency and age (D-31).</a:t>
            </a:r>
          </a:p>
          <a:p>
            <a:r>
              <a:t>Limitation: APIs return today's revised values, not what was published at the time (D-58).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Details: deliberate breakages failed 1 and 5 UI tests (Step 8); later changes written test-first (D-84 onwards).</a:t>
            </a:r>
          </a:p>
          <a:p>
            <a:r>
              <a:t>Twelve acceptance criteria are mapped to tests in docs/requirements_refinement.md section 5.</a:t>
            </a:r>
          </a:p>
          <a:p>
            <a:r>
              <a:t>Lint and format: ruff. No CI in the timebox (D-64).</a:t>
            </a:r>
          </a:p>
          <a:p>
            <a:r>
              <a:t>Folders: tests/unit, tests/api, tests/ui; replay fixtures in tests/fixtures.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the live dashboard if possible: Overview, click the senior card, Objective detail, segment table.</a:t>
            </a:r>
          </a:p>
          <a:p>
            <a:r>
              <a:t>Mapping: Explore = Explore &gt; Objective detail; Understand = Explore &gt; Market signals; Challenge = Explore &gt; Relationships; Trust = Evidence.</a:t>
            </a:r>
          </a:p>
          <a:p>
            <a:r>
              <a:t>Filters a view does not use are disabled and explained (D-88, D-91, D-93). Every chart has a table twin (accessibility).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Senior: also not met if Managers count as senior (81.3%, D-94); not met in all 6 segments (D-92).</a:t>
            </a:r>
          </a:p>
          <a:p>
            <a:r>
              <a:t>New-hire: met for Permanent (88.0%) and Manager (91.1%) hires; 148 of 225 early leavers left voluntarily; about 1,982 mature hires at the same rate would settle it.</a:t>
            </a:r>
          </a:p>
          <a:p>
            <a:r>
              <a:t>Turnover 2025 by country: RO 6.7%, IE 6.3%, BG 6.1% are inconclusive.</a:t>
            </a:r>
          </a:p>
          <a:p>
            <a:r>
              <a:t>Data health: counting the 12 unverified exits or the unknown 'regretted' values changes no verdict.</a:t>
            </a:r>
          </a:p>
          <a:p>
            <a:r>
              <a:t>Numbers: docs/methodology.md; README key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Method: within-country demeaned Spearman (D-54), Holm correction over 4 tests per objective (D-34, D-55), bootstrap 95% interval exploratory (D-56).</a:t>
            </a:r>
          </a:p>
          <a:p>
            <a:r>
              <a:t>New-hire is the primary analysis (108 rows); senior and turnover are secondary with low power (D-35).</a:t>
            </a:r>
          </a:p>
          <a:p>
            <a:r>
              <a:t>Time check: unemployment vs time within countries rho -0.71 (D-79). Pooled and time-adjusted views are descriptive only.</a:t>
            </a:r>
          </a:p>
          <a:p>
            <a:r>
              <a:t>Ireland kept everywhere, left out only of the GDP test (D-59). Wording rules D-63.</a:t>
            </a:r>
          </a:p>
          <a:p>
            <a:r>
              <a:t>Code: src/retention/service/association.py.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Chosen: D-04, D-05 (HTML + API), D-03 and D-41 (DuckDB, Parquet), D-28 (as known at hire), D-32 (rank tests).</a:t>
            </a:r>
          </a:p>
          <a:p>
            <a:r>
              <a:t>Left out: CI D-51/D-60/D-64; population since 2020 D-23; revised values D-58; unweighted rows D-80; HICP dataset discontinued D-25; Irish GDP D-59.</a:t>
            </a:r>
          </a:p>
          <a:p>
            <a:r>
              <a:t>Full list with consequences: docs/requirements_refinement.md section 6; README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Process: every decision as a multiple-choice question (D-00), real rows before data decisions (D-06), everything logged (D-15), commits only after my OK (D-81).</a:t>
            </a:r>
          </a:p>
          <a:p>
            <a:r>
              <a:t>Rejections: Streamlit D-04, 90-day exits D-10, UNKNOWN regretted D-12, redesign D-84 -&gt; D-85; also Data -&gt; Software emphasis D-01, 8-test Holm families -&gt; 4 (D-55).</a:t>
            </a:r>
          </a:p>
          <a:p>
            <a:r>
              <a:t>Caught: JOBRATE -&gt; JVR (D-26); C-01 wrong preview statistic, finding withdrawn, boundary tests added.</a:t>
            </a:r>
          </a:p>
          <a:p>
            <a:r>
              <a:t>Full detail: AI_USAGE.md (includes representative prompts) and docs/decision_log.md.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Production mapping in docs/architecture.md: secrets (Key Vault, managed identities), scheduling, observability (Log Analytics alerts),</a:t>
            </a:r>
          </a:p>
          <a:p>
            <a:r>
              <a:t>storage (ADLS Gen2 landing/bronze/silver/gold, Delta time travel), access control (Unity Catalog, Power BI RLS), promotion dev -&gt; test -&gt; prod.</a:t>
            </a:r>
          </a:p>
          <a:p>
            <a:r>
              <a:t>Exact new-hire number: 1,982 mature hires (Wilson search in the dashboard).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reading the three tiles, then the market-signals line, then offer to open any file or view.</a:t>
            </a:r>
          </a:p>
          <a:p>
            <a:r>
              <a:t>New-hire: 1,804 mature hires today; about 1,982 at the same 87.5% rate would give a range that excludes 86%.</a:t>
            </a:r>
          </a:p>
          <a:p>
            <a:r>
              <a:t>Senior also not met if Managers count as senior (81.3%).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B9C3D6"/>
                </a:solidFill>
                <a:latin typeface="Segoe U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6583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FB3FF"/>
                </a:solidFill>
                <a:latin typeface="Segoe UI"/>
              </a:rPr>
              <a:t>AGENTIC ENGINEERING ASSESSMENT  ·  SOFTWARE EMPHASIS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6400800" cy="1828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External signals × workforce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11880"/>
            <a:ext cx="630936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B9C3D6"/>
                </a:solidFill>
                <a:latin typeface="Segoe UI"/>
              </a:rPr>
              <a:t>Are Asteria's retention objectives on track, and do labour-market conditions help explain them? A small data product with honest answers, including the limits of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257800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Bishoy Mokhless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96128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3D6"/>
                </a:solidFill>
                <a:latin typeface="Segoe UI"/>
              </a:rPr>
              <a:t>github.com/Bishoy-Mokhless/Agentic-Engineering-Assessment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188720"/>
            <a:ext cx="3959352" cy="4754880"/>
          </a:xfrm>
          <a:prstGeom prst="roundRect">
            <a:avLst>
              <a:gd name="adj" fmla="val 5000"/>
            </a:avLst>
          </a:prstGeom>
          <a:solidFill>
            <a:srgbClr val="1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0" y="1417320"/>
            <a:ext cx="3474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020824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3D6"/>
                </a:solidFill>
                <a:latin typeface="Segoe UI"/>
              </a:rPr>
              <a:t>retention objectives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0" y="2423160"/>
            <a:ext cx="3337560" cy="0"/>
          </a:xfrm>
          <a:prstGeom prst="line">
            <a:avLst/>
          </a:prstGeom>
          <a:ln w="9525">
            <a:solidFill>
              <a:srgbClr val="34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55280" y="2532888"/>
            <a:ext cx="3474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136392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3D6"/>
                </a:solidFill>
                <a:latin typeface="Segoe UI"/>
              </a:rPr>
              <a:t>European countries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0" y="3538728"/>
            <a:ext cx="3337560" cy="0"/>
          </a:xfrm>
          <a:prstGeom prst="line">
            <a:avLst/>
          </a:prstGeom>
          <a:ln w="9525">
            <a:solidFill>
              <a:srgbClr val="34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5280" y="3648456"/>
            <a:ext cx="3474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3D6"/>
                </a:solidFill>
                <a:latin typeface="Segoe UI"/>
              </a:rPr>
              <a:t>official market signals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80" y="4654296"/>
            <a:ext cx="3337560" cy="0"/>
          </a:xfrm>
          <a:prstGeom prst="line">
            <a:avLst/>
          </a:prstGeom>
          <a:ln w="9525">
            <a:solidFill>
              <a:srgbClr val="34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55280" y="4764024"/>
            <a:ext cx="3474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2,400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5367528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3D6"/>
                </a:solidFill>
                <a:latin typeface="Segoe UI"/>
              </a:rPr>
              <a:t>employees, hires 2021–2025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6364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B9C3D6"/>
                </a:solidFill>
                <a:latin typeface="Segoe UI"/>
              </a:rPr>
              <a:t>Asteria Consumer Products is fictional; the workforce data is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PROBLEM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An open question, narrowed to one clear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458B3"/>
                </a:solidFill>
                <a:latin typeface="Segoe UI"/>
              </a:rPr>
              <a:t>The decision behind the product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C1C1A"/>
                </a:solidFill>
                <a:latin typeface="Segoe UI"/>
              </a:rPr>
              <a:t>Is each retention objective on track, and do market conditions add useful context, without claiming more than the data supports?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5212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C1A"/>
                </a:solidFill>
                <a:latin typeface="Segoe UI"/>
              </a:rPr>
              <a:t>What the product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74720"/>
            <a:ext cx="5212080" cy="2743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A clear status for each objective, with its uncertainty shown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Official market signals alongside, using only figures already published at the time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An honest test of whether the two move together, including when they do not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Full traceability: sources, freshness and exclusions behind every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425135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87649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C1C1A"/>
                </a:solidFill>
                <a:latin typeface="Segoe UI"/>
              </a:rPr>
              <a:t>How a verdict is decided: our three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876495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7564F"/>
                </a:solidFill>
                <a:latin typeface="Segoe UI"/>
              </a:rPr>
              <a:t>Each rate has a 95% range. </a:t>
            </a:r>
            <a:r>
              <a:rPr sz="1250" b="1" i="0">
                <a:solidFill>
                  <a:srgbClr val="57564F"/>
                </a:solidFill>
                <a:latin typeface="Segoe UI"/>
              </a:rPr>
              <a:t>Met</a:t>
            </a:r>
            <a:r>
              <a:rPr sz="1250" b="0" i="0">
                <a:solidFill>
                  <a:srgbClr val="57564F"/>
                </a:solidFill>
                <a:latin typeface="Segoe UI"/>
              </a:rPr>
              <a:t> or </a:t>
            </a:r>
            <a:r>
              <a:rPr sz="1250" b="1" i="0">
                <a:solidFill>
                  <a:srgbClr val="57564F"/>
                </a:solidFill>
                <a:latin typeface="Segoe UI"/>
              </a:rPr>
              <a:t>Not met</a:t>
            </a:r>
            <a:r>
              <a:rPr sz="1250" b="0" i="0">
                <a:solidFill>
                  <a:srgbClr val="57564F"/>
                </a:solidFill>
                <a:latin typeface="Segoe UI"/>
              </a:rPr>
              <a:t> only when the whole range sits on one side of the target; otherwise </a:t>
            </a:r>
            <a:r>
              <a:rPr sz="1250" b="1" i="0">
                <a:solidFill>
                  <a:srgbClr val="57564F"/>
                </a:solidFill>
                <a:latin typeface="Segoe UI"/>
              </a:rPr>
              <a:t>Inconclusive</a:t>
            </a:r>
            <a:r>
              <a:rPr sz="1250" b="0" i="0">
                <a:solidFill>
                  <a:srgbClr val="57564F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Senior-hire, 12 months  ·  target ≥ 90%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3538728"/>
            <a:ext cx="327629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92240" y="350215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72200" y="358444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70%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02758" y="350215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82718" y="358444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80%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13276" y="350215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93236" y="358444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90%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13276" y="3108960"/>
            <a:ext cx="0" cy="429768"/>
          </a:xfrm>
          <a:prstGeom prst="line">
            <a:avLst/>
          </a:prstGeom>
          <a:ln w="22225">
            <a:solidFill>
              <a:srgbClr val="2458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72290" y="3172968"/>
            <a:ext cx="1284308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12001" y="3255264"/>
            <a:ext cx="109728" cy="109728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6490" y="3191256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B3261E"/>
                </a:solidFill>
                <a:latin typeface="Segoe UI"/>
              </a:rPr>
              <a:t>72.9%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318" y="3191256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B3261E"/>
                </a:solidFill>
                <a:latin typeface="Segoe UI"/>
              </a:rPr>
              <a:t>82.7%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42855" y="31546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B3261E"/>
                </a:solidFill>
                <a:latin typeface="Segoe UI"/>
              </a:rPr>
              <a:t>Not met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862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New-hire, 6 months  ·  target ≥ 86%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92240" y="4636008"/>
            <a:ext cx="327629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92240" y="459943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72200" y="468172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80%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4338" y="459943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64298" y="468172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85%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76437" y="459943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56397" y="468172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90%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68535" y="459943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448495" y="468172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95%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02758" y="4206240"/>
            <a:ext cx="0" cy="429768"/>
          </a:xfrm>
          <a:prstGeom prst="line">
            <a:avLst/>
          </a:prstGeom>
          <a:ln w="22225">
            <a:solidFill>
              <a:srgbClr val="2458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80916" y="4270248"/>
            <a:ext cx="677101" cy="274320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 w="1270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75524" y="4352544"/>
            <a:ext cx="109728" cy="109728"/>
          </a:xfrm>
          <a:prstGeom prst="ellipse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95116" y="4288536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9A6A00"/>
                </a:solidFill>
                <a:latin typeface="Segoe UI"/>
              </a:rPr>
              <a:t>85.9%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737" y="4288536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6A00"/>
                </a:solidFill>
                <a:latin typeface="Segoe UI"/>
              </a:rPr>
              <a:t>89.0%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42855" y="425196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9A6A00"/>
                </a:solidFill>
                <a:latin typeface="Segoe UI"/>
              </a:rPr>
              <a:t>Inconclusive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98348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Regretted turnover  ·  target ≤ 7.5%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92240" y="5733288"/>
            <a:ext cx="327629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92240" y="569671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72200" y="577900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0%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30388" y="569671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810348" y="577900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5%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768535" y="5696712"/>
            <a:ext cx="0" cy="73152"/>
          </a:xfrm>
          <a:prstGeom prst="line">
            <a:avLst/>
          </a:prstGeom>
          <a:ln w="1270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448495" y="577900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57564F"/>
                </a:solidFill>
                <a:latin typeface="Segoe UI"/>
              </a:rPr>
              <a:t>10%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949461" y="5303520"/>
            <a:ext cx="0" cy="429768"/>
          </a:xfrm>
          <a:prstGeom prst="line">
            <a:avLst/>
          </a:prstGeom>
          <a:ln w="22225">
            <a:solidFill>
              <a:srgbClr val="2458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835521" y="5367528"/>
            <a:ext cx="720785" cy="274320"/>
          </a:xfrm>
          <a:prstGeom prst="roundRect">
            <a:avLst>
              <a:gd name="adj" fmla="val 50000"/>
            </a:avLst>
          </a:prstGeom>
          <a:solidFill>
            <a:srgbClr val="E5F4EC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08287" y="5449824"/>
            <a:ext cx="109728" cy="109728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49721" y="5385816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 i="0">
                <a:solidFill>
                  <a:srgbClr val="1F7A4D"/>
                </a:solidFill>
                <a:latin typeface="Segoe UI"/>
              </a:rPr>
              <a:t>4.1%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02026" y="5385816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1F7A4D"/>
                </a:solidFill>
                <a:latin typeface="Segoe UI"/>
              </a:rPr>
              <a:t>6.3%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42855" y="53492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5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1F7A4D"/>
                </a:solidFill>
                <a:latin typeface="Segoe UI"/>
              </a:rPr>
              <a:t>Met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PROBLEM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Three clear definitions decide every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515258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15258" cy="868680"/>
          </a:xfrm>
          <a:prstGeom prst="roundRect">
            <a:avLst>
              <a:gd name="adj" fmla="val 8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1C1A"/>
                </a:solidFill>
                <a:latin typeface="Segoe UI"/>
              </a:rPr>
              <a:t>New-hire retention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458B3"/>
                </a:solidFill>
                <a:latin typeface="Segoe UI"/>
              </a:rPr>
              <a:t>Target: at least 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3058058" cy="3291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Retained: still employed six calendar months after the hire date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Any exit counts, whatever the reason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Hires too recent to reach six months: </a:t>
            </a:r>
            <a:r>
              <a:rPr sz="1600" b="1" i="0">
                <a:solidFill>
                  <a:srgbClr val="1C1C1A"/>
                </a:solidFill>
                <a:latin typeface="Segoe UI"/>
              </a:rPr>
              <a:t>not yet measurable</a:t>
            </a:r>
            <a:r>
              <a:rPr sz="1600" b="0" i="0">
                <a:solidFill>
                  <a:srgbClr val="1C1C1A"/>
                </a:solidFill>
                <a:latin typeface="Segoe UI"/>
              </a:rPr>
              <a:t>, never counted as 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600200"/>
            <a:ext cx="3515258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38218" y="1600200"/>
            <a:ext cx="3515258" cy="868680"/>
          </a:xfrm>
          <a:prstGeom prst="roundRect">
            <a:avLst>
              <a:gd name="adj" fmla="val 8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1C1A"/>
                </a:solidFill>
                <a:latin typeface="Segoe UI"/>
              </a:rPr>
              <a:t>Senior-hire retention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458B3"/>
                </a:solidFill>
                <a:latin typeface="Segoe UI"/>
              </a:rPr>
              <a:t>Target: at least 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6818" y="2697480"/>
            <a:ext cx="3058058" cy="3291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Same rule over twelve months, applied to Senior Leaders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'Senior' left open by the brief, so kept as </a:t>
            </a:r>
            <a:r>
              <a:rPr sz="1600" b="1" i="0">
                <a:solidFill>
                  <a:srgbClr val="1C1C1A"/>
                </a:solidFill>
                <a:latin typeface="Segoe UI"/>
              </a:rPr>
              <a:t>one setting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With Managers counted as senior: 81.3%, same 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077" y="1600200"/>
            <a:ext cx="3515258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82077" y="1600200"/>
            <a:ext cx="3515258" cy="868680"/>
          </a:xfrm>
          <a:prstGeom prst="roundRect">
            <a:avLst>
              <a:gd name="adj" fmla="val 8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1C1A"/>
                </a:solidFill>
                <a:latin typeface="Segoe UI"/>
              </a:rPr>
              <a:t>Regretted turnover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458B3"/>
                </a:solidFill>
                <a:latin typeface="Segoe UI"/>
              </a:rPr>
              <a:t>Target: at most 7.5%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7" y="2697480"/>
            <a:ext cx="3058058" cy="3291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Confirmed regretted exits over the last twelve months, divided by the average headcount across that year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Verdicts on December values only, since neighbouring months share eleven months of data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An unknown 'regretted' answer, never read as 'no'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PROBLEM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The data is imperfect on purpose, so nothing is guessed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4206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C1C1A"/>
                </a:solidFill>
                <a:latin typeface="Segoe UI"/>
              </a:rPr>
              <a:t>2,407 rows</a:t>
            </a:r>
            <a:r>
              <a:rPr sz="1500" b="0" i="0">
                <a:solidFill>
                  <a:srgbClr val="1C1C1A"/>
                </a:solidFill>
                <a:latin typeface="Segoe UI"/>
              </a:rPr>
              <a:t> in the HR 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2240280"/>
            <a:ext cx="0" cy="457200"/>
          </a:xfrm>
          <a:prstGeom prst="line">
            <a:avLst/>
          </a:prstGeom>
          <a:ln w="22225">
            <a:solidFill>
              <a:srgbClr val="575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34640" y="2286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7564F"/>
                </a:solidFill>
                <a:latin typeface="Segoe UI"/>
              </a:rPr>
              <a:t>7 repeated rows removed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4206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C1C1A"/>
                </a:solidFill>
                <a:latin typeface="Segoe UI"/>
              </a:rPr>
              <a:t>2,400 employees</a:t>
            </a:r>
            <a:r>
              <a:rPr sz="1500" b="0" i="0">
                <a:solidFill>
                  <a:srgbClr val="1C1C1A"/>
                </a:solidFill>
                <a:latin typeface="Segoe UI"/>
              </a:rPr>
              <a:t>, each accounted for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249680" y="3337560"/>
            <a:ext cx="1447800" cy="548640"/>
          </a:xfrm>
          <a:prstGeom prst="line">
            <a:avLst/>
          </a:prstGeom>
          <a:ln w="22225">
            <a:solidFill>
              <a:srgbClr val="575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3886200"/>
            <a:ext cx="1310640" cy="86868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7A4D"/>
                </a:solidFill>
                <a:latin typeface="Segoe UI"/>
              </a:rPr>
              <a:t>2,378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7A4D"/>
                </a:solidFill>
                <a:latin typeface="Segoe UI"/>
              </a:rPr>
              <a:t>included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3337560"/>
            <a:ext cx="0" cy="548640"/>
          </a:xfrm>
          <a:prstGeom prst="line">
            <a:avLst/>
          </a:prstGeom>
          <a:ln w="22225">
            <a:solidFill>
              <a:srgbClr val="575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42160" y="3886200"/>
            <a:ext cx="1310640" cy="868680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1270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A6A00"/>
                </a:solidFill>
                <a:latin typeface="Segoe UI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9A6A00"/>
                </a:solidFill>
                <a:latin typeface="Segoe UI"/>
              </a:rPr>
              <a:t>quarantined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3337560"/>
            <a:ext cx="1447800" cy="548640"/>
          </a:xfrm>
          <a:prstGeom prst="line">
            <a:avLst/>
          </a:prstGeom>
          <a:ln w="22225">
            <a:solidFill>
              <a:srgbClr val="5756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89960" y="3886200"/>
            <a:ext cx="1310640" cy="86868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3261E"/>
                </a:solidFill>
                <a:latin typeface="Segoe UI"/>
              </a:rPr>
              <a:t>10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3261E"/>
                </a:solidFill>
                <a:latin typeface="Segoe UI"/>
              </a:rPr>
              <a:t>excluded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74920"/>
            <a:ext cx="4206240" cy="100584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2458B3"/>
                </a:solidFill>
                <a:latin typeface="Segoe UI"/>
              </a:rPr>
              <a:t>Uncertain records: kept, flagged and tested, never deleted or filled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600200"/>
            <a:ext cx="321548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7564F"/>
                </a:solidFill>
                <a:latin typeface="Segoe UI"/>
              </a:rPr>
              <a:t>ISSUE IN THE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88" y="1600200"/>
            <a:ext cx="321548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7564F"/>
                </a:solidFill>
                <a:latin typeface="Segoe UI"/>
              </a:rPr>
              <a:t>TREATMENT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66360" y="1901952"/>
            <a:ext cx="643097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1938528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Seven employees listed twice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3288" y="1938528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Latest update kept, older row logged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6360" y="2487168"/>
            <a:ext cx="643097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60" y="2523744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Country codes EL and ROM; nine blanks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3288" y="2523744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Mapped to GR and RO; blanks in company totals only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66360" y="3072384"/>
            <a:ext cx="643097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60" y="3108960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'Sr Mgmt' as a career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3288" y="3108960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Treated as Senior Leader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66360" y="3657600"/>
            <a:ext cx="643097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66360" y="3694176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No hire date, or exit before hire (10)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3288" y="3694176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Excluded, each one listed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66360" y="4242816"/>
            <a:ext cx="643097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66360" y="4279392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12 exits exactly 90 days after hire, no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3288" y="4279392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Quarantined, then tested both ways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66360" y="4828032"/>
            <a:ext cx="6430975" cy="0"/>
          </a:xfrm>
          <a:prstGeom prst="line">
            <a:avLst/>
          </a:prstGeom>
          <a:ln w="12700">
            <a:solidFill>
              <a:srgbClr val="DC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66360" y="4864608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2 exits with no 'regretted'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3288" y="4864608"/>
            <a:ext cx="3124048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Kept as unknown; worst case tested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5532120"/>
            <a:ext cx="6430975" cy="54864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1F7A4D"/>
                </a:solidFill>
                <a:latin typeface="Segoe UI"/>
              </a:rPr>
              <a:t>Result: </a:t>
            </a:r>
            <a:r>
              <a:rPr sz="1400" b="1" i="0">
                <a:solidFill>
                  <a:srgbClr val="1F7A4D"/>
                </a:solidFill>
                <a:latin typeface="Segoe UI"/>
              </a:rPr>
              <a:t>no verdict changes</a:t>
            </a:r>
            <a:r>
              <a:rPr sz="1400" b="0" i="0">
                <a:solidFill>
                  <a:srgbClr val="1F7A4D"/>
                </a:solidFill>
                <a:latin typeface="Segoe UI"/>
              </a:rPr>
              <a:t> when the uncertain records are treated differently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Two flows: one builds the data, one serves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458B3"/>
                </a:solidFill>
                <a:latin typeface="Segoe UI"/>
              </a:rPr>
              <a:t>retention run</a:t>
            </a:r>
            <a:r>
              <a:rPr sz="1500" b="0" i="0">
                <a:solidFill>
                  <a:srgbClr val="2458B3"/>
                </a:solidFill>
                <a:latin typeface="Segoe UI"/>
              </a:rPr>
              <a:t>: the batch job that builds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EEECE6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Eurostat, World Bank, HR files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01168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Ingest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download or replay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21992" y="249174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8264" y="201168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Raw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untouched copies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23944" y="249174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0216" y="201168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Source-shaped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flat tables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25896" y="249174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8" y="201168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Canonical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cleaned, with flags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7848" y="249174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01168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Analytical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objectives, joins, tests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9800" y="249174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429000"/>
            <a:ext cx="7315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7A4D"/>
                </a:solidFill>
                <a:latin typeface="Segoe UI"/>
              </a:rPr>
              <a:t>retention serve</a:t>
            </a:r>
            <a:r>
              <a:rPr sz="1500" b="0" i="0">
                <a:solidFill>
                  <a:srgbClr val="1F7A4D"/>
                </a:solidFill>
                <a:latin typeface="Segoe UI"/>
              </a:rPr>
              <a:t>: the web app that shows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397764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Browser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the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397764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API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controllers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397764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Service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business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3977640"/>
            <a:ext cx="16276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Repository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7564F"/>
                </a:solidFill>
                <a:latin typeface="Segoe UI"/>
              </a:rPr>
              <a:t>reads the files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17936" y="2971800"/>
            <a:ext cx="0" cy="1005840"/>
          </a:xfrm>
          <a:prstGeom prst="line">
            <a:avLst/>
          </a:prstGeom>
          <a:ln w="2222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91088" y="3154680"/>
            <a:ext cx="10972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1F7A4D"/>
                </a:solidFill>
                <a:latin typeface="Segoe UI"/>
              </a:rPr>
              <a:t>files only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9829800" y="4457700"/>
            <a:ext cx="274320" cy="0"/>
          </a:xfrm>
          <a:prstGeom prst="line">
            <a:avLst/>
          </a:prstGeom>
          <a:ln w="2222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927848" y="4457700"/>
            <a:ext cx="274320" cy="0"/>
          </a:xfrm>
          <a:prstGeom prst="line">
            <a:avLst/>
          </a:prstGeom>
          <a:ln w="2222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25896" y="4457700"/>
            <a:ext cx="274320" cy="0"/>
          </a:xfrm>
          <a:prstGeom prst="line">
            <a:avLst/>
          </a:prstGeom>
          <a:ln w="2222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" y="3977640"/>
            <a:ext cx="3483864" cy="960120"/>
          </a:xfrm>
          <a:prstGeom prst="roundRect">
            <a:avLst>
              <a:gd name="adj" fmla="val 12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57564F"/>
                </a:solidFill>
                <a:latin typeface="Segoe UI"/>
              </a:rPr>
              <a:t>The same layering as a Spring app: controller, service, repository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49240"/>
            <a:ext cx="11002975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1C1C1A"/>
                </a:solidFill>
                <a:latin typeface="Segoe UI"/>
              </a:rPr>
              <a:t>Python 3.11, pandas and DuckDB SQL on Parquet files, a FastAPI service, a plain HTML dashboard with Chart.js, tested with pytest and Playwright. No database server, no cloud account.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ARCHITECTURE ·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A run is all-or-nothing, and failures are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1C1A"/>
                </a:solidFill>
                <a:latin typeface="Segoe UI"/>
              </a:rPr>
              <a:t>Run starts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2148840"/>
            <a:ext cx="36576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60020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Curated layers built in a </a:t>
            </a:r>
            <a:r>
              <a:rPr sz="1350" b="1" i="0">
                <a:solidFill>
                  <a:srgbClr val="1C1C1A"/>
                </a:solidFill>
                <a:latin typeface="Segoe UI"/>
              </a:rPr>
              <a:t>temporary folder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66360" y="2148840"/>
            <a:ext cx="36576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532120" y="1463040"/>
            <a:ext cx="1737360" cy="1371600"/>
          </a:xfrm>
          <a:prstGeom prst="diamond">
            <a:avLst/>
          </a:prstGeom>
          <a:solidFill>
            <a:srgbClr val="E6EEFA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C1C1A"/>
                </a:solidFill>
                <a:latin typeface="Segoe UI"/>
              </a:rPr>
              <a:t>All steps OK?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834640"/>
            <a:ext cx="0" cy="594360"/>
          </a:xfrm>
          <a:prstGeom prst="line">
            <a:avLst/>
          </a:prstGeom>
          <a:ln w="2222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92240" y="292608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4D"/>
                </a:solidFill>
                <a:latin typeface="Segoe UI"/>
              </a:rP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42900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0" i="0">
                <a:solidFill>
                  <a:srgbClr val="1F7A4D"/>
                </a:solidFill>
                <a:latin typeface="Segoe UI"/>
              </a:rPr>
              <a:t>Published: the dashboard sees the new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9480" y="2148840"/>
            <a:ext cx="457200" cy="0"/>
          </a:xfrm>
          <a:prstGeom prst="line">
            <a:avLst/>
          </a:prstGeom>
          <a:ln w="22225">
            <a:solidFill>
              <a:srgbClr val="B326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0" y="178308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Segoe UI"/>
              </a:rP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16916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0" i="0">
                <a:solidFill>
                  <a:srgbClr val="B3261E"/>
                </a:solidFill>
                <a:latin typeface="Segoe UI"/>
              </a:rPr>
              <a:t>Discarded: the last good data stays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3931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C1C1A"/>
                </a:solidFill>
                <a:latin typeface="Segoe UI"/>
              </a:rPr>
              <a:t>On every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931920" cy="1280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Raw downloads never overwritten; each keeps its URL, time and checksum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A lineage record per layer: the run that built it and its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46320"/>
            <a:ext cx="1100297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C1C1A"/>
                </a:solidFill>
                <a:latin typeface="Segoe UI"/>
              </a:rPr>
              <a:t>A status for every source, shown on the dashboard: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230368"/>
            <a:ext cx="2647874" cy="86868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F7A4D"/>
                </a:solidFill>
                <a:latin typeface="Segoe UI"/>
              </a:rPr>
              <a:t>fresh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1C1C1A"/>
                </a:solidFill>
                <a:latin typeface="Segoe UI"/>
              </a:rPr>
              <a:t>fetched in this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9394" y="5230368"/>
            <a:ext cx="2647874" cy="86868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2458B3"/>
                </a:solidFill>
                <a:latin typeface="Segoe UI"/>
              </a:rPr>
              <a:t>replayed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1C1C1A"/>
                </a:solidFill>
                <a:latin typeface="Segoe UI"/>
              </a:rPr>
              <a:t>saved copy used (the default)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8" y="5230368"/>
            <a:ext cx="2647874" cy="868680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9A6A00"/>
                </a:solidFill>
                <a:latin typeface="Segoe UI"/>
              </a:rPr>
              <a:t>stale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1C1C1A"/>
                </a:solidFill>
                <a:latin typeface="Segoe UI"/>
              </a:rPr>
              <a:t>fetch failed, last good copy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9461" y="5230368"/>
            <a:ext cx="2647874" cy="86868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B3261E"/>
                </a:solidFill>
                <a:latin typeface="Segoe UI"/>
              </a:rPr>
              <a:t>unavailable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1C1C1A"/>
                </a:solidFill>
                <a:latin typeface="Segoe UI"/>
              </a:rPr>
              <a:t>no data: the run stops clearly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ARCHITECTURE · LINEAGE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C1A"/>
                </a:solidFill>
                <a:latin typeface="Segoe UI"/>
              </a:rPr>
              <a:t>Every number can be traced back to a line in a source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1002975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7564F"/>
                </a:solidFill>
                <a:latin typeface="Segoe UI"/>
              </a:rPr>
              <a:t>One employee, ACP001733, followed through the layers:</a:t>
            </a:r>
          </a:p>
        </p:txBody>
      </p:sp>
      <p:sp>
        <p:nvSpPr>
          <p:cNvPr id="6" name="Pentagon 5"/>
          <p:cNvSpPr/>
          <p:nvPr/>
        </p:nvSpPr>
        <p:spPr>
          <a:xfrm>
            <a:off x="594360" y="2011680"/>
            <a:ext cx="2164019" cy="685800"/>
          </a:xfrm>
          <a:prstGeom prst="homePlate">
            <a:avLst/>
          </a:prstGeom>
          <a:solidFill>
            <a:srgbClr val="24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Raw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880360"/>
            <a:ext cx="19811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C1C1A"/>
                </a:solidFill>
                <a:latin typeface="Segoe UI"/>
              </a:rPr>
              <a:t>CSV line 1734: country 'ROM', hired 17 Sep 2024, left 28 Jan 2025, voluntary, regretted.</a:t>
            </a:r>
          </a:p>
        </p:txBody>
      </p:sp>
      <p:sp>
        <p:nvSpPr>
          <p:cNvPr id="8" name="Chevron 7"/>
          <p:cNvSpPr/>
          <p:nvPr/>
        </p:nvSpPr>
        <p:spPr>
          <a:xfrm>
            <a:off x="2804099" y="2011680"/>
            <a:ext cx="2164019" cy="685800"/>
          </a:xfrm>
          <a:prstGeom prst="chevron">
            <a:avLst/>
          </a:prstGeom>
          <a:solidFill>
            <a:srgbClr val="24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Source-shaped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7251" y="2880360"/>
            <a:ext cx="19811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C1C1A"/>
                </a:solidFill>
                <a:latin typeface="Segoe UI"/>
              </a:rPr>
              <a:t>The same values as a table. 'ROM' is kept exactly as delivered.</a:t>
            </a:r>
          </a:p>
        </p:txBody>
      </p:sp>
      <p:sp>
        <p:nvSpPr>
          <p:cNvPr id="10" name="Chevron 9"/>
          <p:cNvSpPr/>
          <p:nvPr/>
        </p:nvSpPr>
        <p:spPr>
          <a:xfrm>
            <a:off x="5013838" y="2011680"/>
            <a:ext cx="2164019" cy="685800"/>
          </a:xfrm>
          <a:prstGeom prst="chevron">
            <a:avLst/>
          </a:prstGeom>
          <a:solidFill>
            <a:srgbClr val="24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Canonical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6990" y="2880360"/>
            <a:ext cx="19811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C1C1A"/>
                </a:solidFill>
                <a:latin typeface="Segoe UI"/>
              </a:rPr>
              <a:t>The country becomes RO, the original 'ROM' is kept, and a flag records the change.</a:t>
            </a:r>
          </a:p>
        </p:txBody>
      </p:sp>
      <p:sp>
        <p:nvSpPr>
          <p:cNvPr id="12" name="Chevron 11"/>
          <p:cNvSpPr/>
          <p:nvPr/>
        </p:nvSpPr>
        <p:spPr>
          <a:xfrm>
            <a:off x="7223577" y="2011680"/>
            <a:ext cx="2164019" cy="685800"/>
          </a:xfrm>
          <a:prstGeom prst="chevron">
            <a:avLst/>
          </a:prstGeom>
          <a:solidFill>
            <a:srgbClr val="24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729" y="2880360"/>
            <a:ext cx="19811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C1C1A"/>
                </a:solidFill>
                <a:latin typeface="Segoe UI"/>
              </a:rPr>
              <a:t>The six months end on 17 Mar 2025. The exit is earlier, so: not retained.</a:t>
            </a:r>
          </a:p>
        </p:txBody>
      </p:sp>
      <p:sp>
        <p:nvSpPr>
          <p:cNvPr id="14" name="Chevron 13"/>
          <p:cNvSpPr/>
          <p:nvPr/>
        </p:nvSpPr>
        <p:spPr>
          <a:xfrm>
            <a:off x="9433316" y="2011680"/>
            <a:ext cx="2164019" cy="685800"/>
          </a:xfrm>
          <a:prstGeom prst="chevron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6468" y="2880360"/>
            <a:ext cx="19811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C1C1A"/>
                </a:solidFill>
                <a:latin typeface="Segoe UI"/>
              </a:rPr>
              <a:t>Counted in the 87.5% new-hire rate and in the 82 regretted exits of 2025.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257800"/>
            <a:ext cx="11002975" cy="77724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50" b="0" i="0">
                <a:solidFill>
                  <a:srgbClr val="2458B3"/>
                </a:solidFill>
                <a:latin typeface="Segoe UI"/>
              </a:rPr>
              <a:t>Nothing overwritten on the way: each layer adds to the record, so any value on the dashboard leads back to its source 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ARCHITECTURE · TIME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Each cohort only sees data that was already 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002975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7564F"/>
                </a:solidFill>
                <a:latin typeface="Segoe UI"/>
              </a:rPr>
              <a:t>Official figures appear weeks or months after the period they describe. Example: the Romanian hires of July–September 2024.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3977640"/>
            <a:ext cx="10058400" cy="0"/>
          </a:xfrm>
          <a:prstGeom prst="line">
            <a:avLst/>
          </a:prstGeom>
          <a:ln w="19050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Mar 2024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651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079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Apr 2024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415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843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May 2024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607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Jun 2024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943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71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Jul 2024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707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135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Aug 2024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247120" y="3904488"/>
            <a:ext cx="0" cy="146304"/>
          </a:xfrm>
          <a:prstGeom prst="line">
            <a:avLst/>
          </a:prstGeom>
          <a:ln w="15875">
            <a:solidFill>
              <a:srgbClr val="5756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0" y="4087368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7564F"/>
                </a:solidFill>
                <a:latin typeface="Segoe UI"/>
              </a:rPr>
              <a:t>Sep 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5120" y="2194560"/>
            <a:ext cx="1676400" cy="45720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F7A4D"/>
                </a:solidFill>
                <a:latin typeface="Segoe UI"/>
              </a:rPr>
              <a:t>April figure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41520" y="2423160"/>
            <a:ext cx="3325368" cy="0"/>
          </a:xfrm>
          <a:prstGeom prst="line">
            <a:avLst/>
          </a:prstGeom>
          <a:ln w="2222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41520" y="2057400"/>
            <a:ext cx="3352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1">
                <a:solidFill>
                  <a:srgbClr val="1F7A4D"/>
                </a:solidFill>
                <a:latin typeface="Segoe UI"/>
              </a:rPr>
              <a:t>+2 months to 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960" y="2697480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1F7A4D"/>
                </a:solidFill>
                <a:latin typeface="Segoe UI"/>
              </a:rPr>
              <a:t>usable from 30 June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1520" y="3017520"/>
            <a:ext cx="167640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B3261E"/>
                </a:solidFill>
                <a:latin typeface="Segoe UI"/>
              </a:rPr>
              <a:t>May figure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0" y="3246120"/>
            <a:ext cx="3325368" cy="0"/>
          </a:xfrm>
          <a:prstGeom prst="line">
            <a:avLst/>
          </a:prstGeom>
          <a:ln w="22225">
            <a:solidFill>
              <a:srgbClr val="B326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41520" y="352044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B3261E"/>
                </a:solidFill>
                <a:latin typeface="Segoe UI"/>
              </a:rPr>
              <a:t>usable only from 31 July: too late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94320" y="1874520"/>
            <a:ext cx="0" cy="2103120"/>
          </a:xfrm>
          <a:prstGeom prst="line">
            <a:avLst/>
          </a:prstGeom>
          <a:ln w="28575">
            <a:solidFill>
              <a:srgbClr val="245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67472" y="3657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58B3"/>
                </a:solidFill>
                <a:latin typeface="Segoe UI"/>
              </a:rPr>
              <a:t>Cohort starts 1 July: its as-of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526280"/>
            <a:ext cx="5486400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Usable from: the end of the period plus a fixed lag of </a:t>
            </a:r>
            <a:r>
              <a:rPr sz="1400" b="1" i="0">
                <a:solidFill>
                  <a:srgbClr val="1C1C1A"/>
                </a:solidFill>
                <a:latin typeface="Segoe UI"/>
              </a:rPr>
              <a:t>monthly +2, quarterly +3, yearly +7 months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Lags measured from the APIs and rounded up: no figure used before its publication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526280"/>
            <a:ext cx="519379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C1C1A"/>
                </a:solidFill>
                <a:latin typeface="Segoe UI"/>
              </a:rPr>
              <a:t>Mixed frequencies stay honest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Yearly GDP for this cohort is the 2022 figure, and it is shown as </a:t>
            </a:r>
            <a:r>
              <a:rPr sz="1350" b="1" i="0">
                <a:solidFill>
                  <a:srgbClr val="1C1C1A"/>
                </a:solidFill>
                <a:latin typeface="Segoe UI"/>
              </a:rPr>
              <a:t>'2022, yearly, 19 months old'</a:t>
            </a:r>
            <a:r>
              <a:rPr sz="1350" b="0" i="0">
                <a:solidFill>
                  <a:srgbClr val="1C1C1A"/>
                </a:solidFill>
                <a:latin typeface="Segoe UI"/>
              </a:rPr>
              <a:t>. A yearly value is never presented as a new monthly or quarterly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ARCHITECTURE · ENGINEERING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186 automated tests guard the riskiest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51525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458B3"/>
                </a:solidFill>
                <a:latin typeface="Segoe UI"/>
              </a:rPr>
              <a:t>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96661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C1C1A"/>
                </a:solidFill>
                <a:latin typeface="Segoe UI"/>
              </a:rP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966618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7564F"/>
                </a:solidFill>
                <a:latin typeface="Segoe UI"/>
              </a:rPr>
              <a:t>The cleaning rules, the metric SQL on small hand-made tables, the intervals and verdicts, and the no-future-data join.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645920"/>
            <a:ext cx="351525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2538" y="178308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458B3"/>
                </a:solidFill>
                <a:latin typeface="Segoe U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560320"/>
            <a:ext cx="296661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C1C1A"/>
                </a:solidFill>
                <a:latin typeface="Segoe UI"/>
              </a:rPr>
              <a:t>API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2971800"/>
            <a:ext cx="2966618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7564F"/>
                </a:solidFill>
                <a:latin typeface="Segoe UI"/>
              </a:rPr>
              <a:t>Every endpoint, on data built by the real pipeline, including the error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7" y="1645920"/>
            <a:ext cx="351525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6397" y="178308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458B3"/>
                </a:solidFill>
                <a:latin typeface="Segoe UI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397" y="2560320"/>
            <a:ext cx="296661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C1C1A"/>
                </a:solidFill>
                <a:latin typeface="Segoe UI"/>
              </a:rPr>
              <a:t>browser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7" y="2971800"/>
            <a:ext cx="2966618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7564F"/>
                </a:solidFill>
                <a:latin typeface="Segoe UI"/>
              </a:rPr>
              <a:t>The real dashboard in Chromium: filters, empty and error states, keyboard use, and a table behind every chart.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11002975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Deliberate breakages of the dashboard, caught by the tests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198 dashboard states checked automatically before release; a regression test for every bug found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C1C1A"/>
                </a:solidFill>
                <a:latin typeface="Segoe UI"/>
              </a:rPr>
              <a:t>The full suite: one command, about a minute and a half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The dashboard answers the brief's four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6729984" cy="34497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pic>
        <p:nvPicPr>
          <p:cNvPr id="6" name="Picture 5" descr="01_overview_1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6675120" cy="33949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600200"/>
            <a:ext cx="405353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458B3"/>
                </a:solidFill>
                <a:latin typeface="Segoe UI"/>
              </a:rPr>
              <a:t>Explore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C1A"/>
                </a:solidFill>
                <a:latin typeface="Segoe UI"/>
              </a:rPr>
              <a:t>Country, years, objective and workforce segment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532888"/>
            <a:ext cx="405353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458B3"/>
                </a:solidFill>
                <a:latin typeface="Segoe UI"/>
              </a:rPr>
              <a:t>Understand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C1A"/>
                </a:solidFill>
                <a:latin typeface="Segoe UI"/>
              </a:rPr>
              <a:t>Each objective's status next to the market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465576"/>
            <a:ext cx="405353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458B3"/>
                </a:solidFill>
                <a:latin typeface="Segoe UI"/>
              </a:rPr>
              <a:t>Challenge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C1A"/>
                </a:solidFill>
                <a:latin typeface="Segoe UI"/>
              </a:rPr>
              <a:t>Relationship tests with sample sizes and caveats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398264"/>
            <a:ext cx="405353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458B3"/>
                </a:solidFill>
                <a:latin typeface="Segoe UI"/>
              </a:rPr>
              <a:t>Trust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C1A"/>
                </a:solidFill>
                <a:latin typeface="Segoe UI"/>
              </a:rPr>
              <a:t>Sources, freshness, exclusions and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5394960"/>
            <a:ext cx="4053535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57564F"/>
                </a:solidFill>
                <a:latin typeface="Segoe UI"/>
              </a:rPr>
              <a:t>Every number shown with its range, sample size and verdict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Senior retention is below target; the other two need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515258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296661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7564F"/>
                </a:solidFill>
                <a:latin typeface="Segoe UI"/>
              </a:rPr>
              <a:t>Senior-hire,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0116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C1C1A"/>
                </a:solidFill>
                <a:latin typeface="Segoe UI"/>
              </a:rPr>
              <a:t>78.2%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803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3261E"/>
                </a:solidFill>
                <a:latin typeface="Segoe UI"/>
              </a:rPr>
              <a:t>Not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966618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208 of 266 senior hires stayed a year. The whole range, 72.9–82.7%, is below the 90% target, in every year and every segment.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2538" y="1801368"/>
            <a:ext cx="296661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7564F"/>
                </a:solidFill>
                <a:latin typeface="Segoe UI"/>
              </a:rPr>
              <a:t>New-hire, 6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2103120"/>
            <a:ext cx="20116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C1C1A"/>
                </a:solidFill>
                <a:latin typeface="Segoe UI"/>
              </a:rPr>
              <a:t>87.5%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2538" y="28803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9A6A00"/>
                </a:solidFill>
                <a:latin typeface="Segoe UI"/>
              </a:rPr>
              <a:t>Inconclusive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3337560"/>
            <a:ext cx="2966618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1,579 of 1,804 hires stayed six months. The range, 85.9–89.0%, still includes the 86% target, so the data cannot decide yet.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2077" y="1600200"/>
            <a:ext cx="3515258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6397" y="1801368"/>
            <a:ext cx="296661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7564F"/>
                </a:solidFill>
                <a:latin typeface="Segoe UI"/>
              </a:rPr>
              <a:t>Regretted turnover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7" y="2103120"/>
            <a:ext cx="20116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C1C1A"/>
                </a:solidFill>
                <a:latin typeface="Segoe UI"/>
              </a:rPr>
              <a:t>5.1%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6397" y="28803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5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F7A4D"/>
                </a:solidFill>
                <a:latin typeface="Segoe UI"/>
              </a:rPr>
              <a:t>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7" y="3337560"/>
            <a:ext cx="2966618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C1C1A"/>
                </a:solidFill>
                <a:latin typeface="Segoe UI"/>
              </a:rPr>
              <a:t>82 regretted exits against an average of 1,603 people in 2025. Below 7.5%, but up from 3.3% in 2024.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83480"/>
            <a:ext cx="11002975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58B3"/>
                </a:solidFill>
                <a:latin typeface="Segoe UI"/>
              </a:rPr>
              <a:t>Non-finding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C1C1A"/>
                </a:solidFill>
                <a:latin typeface="Segoe UI"/>
              </a:rPr>
              <a:t>None of the 12 formal tests shows a clear link between the market signals and the objectives after correcting for multiple tests. This is a result too, and it is what this synthetic data would predict.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DASHBOARD ·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Market signals showed no clear link with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54500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C1C1A"/>
                </a:solidFill>
                <a:latin typeface="Segoe UI"/>
              </a:rPr>
              <a:t>Within-country comparison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7564F"/>
                </a:solidFill>
                <a:latin typeface="Segoe UI"/>
              </a:rPr>
              <a:t>rich and poor countries cannot fake a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3684" y="1600200"/>
            <a:ext cx="254500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C1C1A"/>
                </a:solidFill>
                <a:latin typeface="Segoe UI"/>
              </a:rPr>
              <a:t>Rank correlation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7564F"/>
                </a:solidFill>
                <a:latin typeface="Segoe UI"/>
              </a:rPr>
              <a:t>robust to outliers and odd shapes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39364" y="217170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33008" y="1600200"/>
            <a:ext cx="254500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C1C1A"/>
                </a:solidFill>
                <a:latin typeface="Segoe UI"/>
              </a:rPr>
              <a:t>Correction for four tests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7564F"/>
                </a:solidFill>
                <a:latin typeface="Segoe UI"/>
              </a:rPr>
              <a:t>one lucky result is not enough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58688" y="217170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52331" y="1600200"/>
            <a:ext cx="2545004" cy="114300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 w="127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7A4D"/>
                </a:solidFill>
                <a:latin typeface="Segoe UI"/>
              </a:rPr>
              <a:t>0 of 12 clear links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7564F"/>
                </a:solidFill>
                <a:latin typeface="Segoe UI"/>
              </a:rPr>
              <a:t>for all three objectives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011" y="2171700"/>
            <a:ext cx="27432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0" y="3063240"/>
            <a:ext cx="116128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57564F"/>
                </a:solidFill>
                <a:latin typeface="Segoe UI"/>
              </a:rPr>
              <a:t>Unemployment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063240"/>
            <a:ext cx="116128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57564F"/>
                </a:solidFill>
                <a:latin typeface="Segoe UI"/>
              </a:rPr>
              <a:t>Inflation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063240"/>
            <a:ext cx="116128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57564F"/>
                </a:solidFill>
                <a:latin typeface="Segoe UI"/>
              </a:rPr>
              <a:t>Job vacancy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3063240"/>
            <a:ext cx="116128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57564F"/>
                </a:solidFill>
                <a:latin typeface="Segoe UI"/>
              </a:rPr>
              <a:t>GDP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1600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New-hire (primary)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22576" y="3410712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−0.10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0.87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3864" y="3410712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−0.12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0.87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3410712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−0.02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410712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0.00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06824"/>
            <a:ext cx="1600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Senior-hire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22576" y="4123944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−0.07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4" y="4123944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+0.20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5152" y="4123944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−0.12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123944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+0.27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20056"/>
            <a:ext cx="1600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C1C1A"/>
                </a:solidFill>
                <a:latin typeface="Segoe UI"/>
              </a:rPr>
              <a:t>Regretted turnover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22576" y="4837176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−0.08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3864" y="4837176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270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−0.40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0.12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4837176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+0.02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1.00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4837176"/>
            <a:ext cx="1088136" cy="64008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54864" rIns="27432" bIns="54864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ρ −0.27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C1C1A"/>
                </a:solidFill>
                <a:latin typeface="Segoe UI"/>
              </a:rPr>
              <a:t>Holm p 0.59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68696"/>
            <a:ext cx="6035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7564F"/>
                </a:solidFill>
                <a:latin typeface="Segoe UI"/>
              </a:rPr>
              <a:t>A clear link would need Holm p below 0.05. None of the 12 reaches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017520"/>
            <a:ext cx="4327855" cy="3108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Inflation and turnover (highlighted): linked on their own (p = 0.03), not after correcting for four tests (0.12)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A steady fall in unemployment over time: time itself could explain a pattern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Ranges marked exploratory, since the same country appears many times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Associations only, never causes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What I chose, what I left out,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341468" cy="45720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2458B3"/>
                </a:solidFill>
                <a:latin typeface="Segoe UI"/>
              </a:rPr>
              <a:t>Chosen,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158588" cy="3931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A plain HTML page with a small API instead of Streamlit, so the service can be tested on its own.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SQL in DuckDB on Parquet files: real SQL, with no database server to install.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Market data as it was known at hire time, not during the months after, so there is no hindsight.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Simple, robust statistics instead of regression models, because the samples are small.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8" y="1600200"/>
            <a:ext cx="5341468" cy="457200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9A6A00"/>
                </a:solidFill>
                <a:latin typeface="Segoe UI"/>
              </a:rPr>
              <a:t>Left out, and known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8" y="2240280"/>
            <a:ext cx="5158588" cy="3931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No CI pipeline within the timebox; the tests run locally with one command.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The HR file seems to hold only people hired since 2020, so early 2021 turnover is inflated.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The APIs return today's revised figures, not the ones published at the time.</a:t>
            </a: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600" b="0" i="0">
                <a:solidFill>
                  <a:srgbClr val="1C1C1A"/>
                </a:solidFill>
                <a:latin typeface="Segoe UI"/>
              </a:rPr>
              <a:t>Each country-quarter has only 7 to 29 hires, so the ranges are wide.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AI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I directed the agent, and every decision stayed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Agent:</a:t>
            </a:r>
            <a:r>
              <a:rPr sz="1350" b="0" i="0">
                <a:solidFill>
                  <a:srgbClr val="1C1C1A"/>
                </a:solidFill>
                <a:latin typeface="Segoe UI"/>
              </a:rPr>
              <a:t> proposes options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69164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Me: one decision per multiple-choice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370332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Agent:</a:t>
            </a:r>
            <a:r>
              <a:rPr sz="1350" b="0" i="0">
                <a:solidFill>
                  <a:srgbClr val="1C1C1A"/>
                </a:solidFill>
                <a:latin typeface="Segoe UI"/>
              </a:rPr>
              <a:t> builds and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0332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Me: checks on the running result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194560"/>
            <a:ext cx="64008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83480" y="2697480"/>
            <a:ext cx="0" cy="100584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54680" y="4206240"/>
            <a:ext cx="64008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65960" y="2697480"/>
            <a:ext cx="0" cy="100584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937760"/>
            <a:ext cx="548640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7564F"/>
                </a:solidFill>
                <a:latin typeface="Segoe UI"/>
              </a:rPr>
              <a:t>Claude Code for the code; ChatGPT for explanations only, with no data shared. Every decision logged with its options and reason.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600200"/>
            <a:ext cx="487649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C1A"/>
                </a:solidFill>
                <a:latin typeface="Segoe UI"/>
              </a:rPr>
              <a:t>Suggestions I rejected or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965960"/>
            <a:ext cx="4876495" cy="2103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Streamlit, replaced by a plain HTML dashboard</a:t>
            </a:r>
          </a:p>
          <a:p>
            <a:pPr marL="274320" indent="-274320" algn="l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90-day exits as fake, replaced by quarantine and a test</a:t>
            </a:r>
          </a:p>
          <a:p>
            <a:pPr marL="274320" indent="-274320" algn="l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Unknown 'regretted' as 'no', replaced by keeping it unknown</a:t>
            </a:r>
          </a:p>
          <a:p>
            <a:pPr marL="274320" indent="-274320" algn="l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A flashy redesign, rolled back after a look at it 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60520"/>
            <a:ext cx="487649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C1A"/>
                </a:solidFill>
                <a:latin typeface="Segoe UI"/>
              </a:rPr>
              <a:t>Mistakes caught by checking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526280"/>
            <a:ext cx="4876495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A guessed dataset code with no data behind it; the real code taken from the provider's own list</a:t>
            </a:r>
          </a:p>
          <a:p>
            <a:pPr marL="274320" indent="-274320" algn="l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C1C1A"/>
                </a:solidFill>
                <a:latin typeface="Segoe UI"/>
              </a:rPr>
              <a:t>A wrong preview statistic (8.3% instead of 6.6%); the finding withdrawn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1002975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458B3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1002975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C1A"/>
                </a:solidFill>
                <a:latin typeface="Segoe UI"/>
              </a:rPr>
              <a:t>From laptop to production, and what would settle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7564F"/>
                </a:solidFill>
                <a:latin typeface="Segoe U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Azure Data Factory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7564F"/>
                </a:solidFill>
                <a:latin typeface="Segoe UI"/>
              </a:rPr>
              <a:t>schedules and runs the four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64592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Databricks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7564F"/>
                </a:solidFill>
                <a:latin typeface="Segoe UI"/>
              </a:rPr>
              <a:t>bronze, silver and gold tables, the same SQL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217420"/>
            <a:ext cx="41148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32120" y="164592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45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1C1C1A"/>
                </a:solidFill>
                <a:latin typeface="Segoe UI"/>
              </a:rPr>
              <a:t>Power BI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7564F"/>
                </a:solidFill>
                <a:latin typeface="Segoe UI"/>
              </a:rPr>
              <a:t>the report, with access by country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217420"/>
            <a:ext cx="411480" cy="0"/>
          </a:xfrm>
          <a:prstGeom prst="line">
            <a:avLst/>
          </a:prstGeom>
          <a:ln w="22225">
            <a:solidFill>
              <a:srgbClr val="2458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2971800"/>
            <a:ext cx="6995160" cy="822960"/>
          </a:xfrm>
          <a:prstGeom prst="roundRect">
            <a:avLst>
              <a:gd name="adj" fmla="val 12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7564F"/>
                </a:solidFill>
                <a:latin typeface="Segoe UI"/>
              </a:rPr>
              <a:t>Key Vault for secrets  ·  alerts on failed or stale runs  ·  Git and CI/CD from dev to test to prod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6995160" cy="2011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1C1A"/>
                </a:solidFill>
                <a:latin typeface="Segoe UI"/>
              </a:rPr>
              <a:t>Same layers, rules and SQL; only the platform changes. DuckDB becomes Spark SQL, the Parquet folders become Delta tables, and the dashboard becomes a Power BI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45920"/>
            <a:ext cx="3687775" cy="457200"/>
          </a:xfrm>
          <a:prstGeom prst="roundRect">
            <a:avLst>
              <a:gd name="adj" fmla="val 12000"/>
            </a:avLst>
          </a:prstGeom>
          <a:solidFill>
            <a:srgbClr val="E6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2458B3"/>
                </a:solidFill>
                <a:latin typeface="Segoe UI"/>
              </a:rPr>
              <a:t>Evidence that would settle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240280"/>
            <a:ext cx="3596335" cy="3931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HR confirmation of the open assumptions, such as who counts as senior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Exit reasons from interviews or surveys, to explain why people leave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About 1,980 mature hires at the same rate, enough to settle the new-hire verdict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C1C1A"/>
                </a:solidFill>
                <a:latin typeface="Segoe UI"/>
              </a:rPr>
              <a:t>A longer history, and a model that controls for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B9C3D6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FB3FF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1002975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What leaders can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15258" cy="2514600"/>
          </a:xfrm>
          <a:prstGeom prst="roundRect">
            <a:avLst>
              <a:gd name="adj" fmla="val 5000"/>
            </a:avLst>
          </a:prstGeom>
          <a:solidFill>
            <a:srgbClr val="1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96661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C3D6"/>
                </a:solidFill>
                <a:latin typeface="Segoe UI"/>
              </a:rPr>
              <a:t>Senior-hire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78.2%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B3261E"/>
                </a:solidFill>
                <a:latin typeface="Segoe UI"/>
              </a:rPr>
              <a:t>Not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3D6"/>
                </a:solidFill>
                <a:latin typeface="Segoe UI"/>
              </a:rPr>
              <a:t>Clearly below the 90% target, in every year and every segment.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783080"/>
            <a:ext cx="3515258" cy="2514600"/>
          </a:xfrm>
          <a:prstGeom prst="roundRect">
            <a:avLst>
              <a:gd name="adj" fmla="val 5000"/>
            </a:avLst>
          </a:prstGeom>
          <a:solidFill>
            <a:srgbClr val="1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2538" y="1965960"/>
            <a:ext cx="296661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C3D6"/>
                </a:solidFill>
                <a:latin typeface="Segoe UI"/>
              </a:rPr>
              <a:t>New-hire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228600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87.5%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2538" y="30632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9A6A00"/>
                </a:solidFill>
                <a:latin typeface="Segoe UI"/>
              </a:rPr>
              <a:t>Inconclusive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352044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3D6"/>
                </a:solidFill>
                <a:latin typeface="Segoe UI"/>
              </a:rPr>
              <a:t>Close to the 86% target; about 180 more mature hires would settle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2077" y="1783080"/>
            <a:ext cx="3515258" cy="2514600"/>
          </a:xfrm>
          <a:prstGeom prst="roundRect">
            <a:avLst>
              <a:gd name="adj" fmla="val 5000"/>
            </a:avLst>
          </a:prstGeom>
          <a:solidFill>
            <a:srgbClr val="1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6397" y="1965960"/>
            <a:ext cx="296661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C3D6"/>
                </a:solidFill>
                <a:latin typeface="Segoe UI"/>
              </a:rPr>
              <a:t>Regretted turnover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7" y="228600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5.1%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6397" y="30632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5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F7A4D"/>
                </a:solidFill>
                <a:latin typeface="Segoe UI"/>
              </a:rPr>
              <a:t>Met, but rising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7" y="3520440"/>
            <a:ext cx="2966618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3D6"/>
                </a:solidFill>
                <a:latin typeface="Segoe UI"/>
              </a:rPr>
              <a:t>Within the 7.5% limit, up from 3.3% in 2024; worth watching.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26280"/>
            <a:ext cx="11002975" cy="777240"/>
          </a:xfrm>
          <a:prstGeom prst="roundRect">
            <a:avLst>
              <a:gd name="adj" fmla="val 12000"/>
            </a:avLst>
          </a:prstGeom>
          <a:solidFill>
            <a:srgbClr val="1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Market signals: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no clear link with any objective (0 of 12 tests). Useful as context, not as an explanation.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32120"/>
            <a:ext cx="11002975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9C3D6"/>
                </a:solidFill>
                <a:latin typeface="Segoe UI"/>
              </a:rPr>
              <a:t>Next:</a:t>
            </a:r>
            <a:r>
              <a:rPr sz="1500" b="0" i="0">
                <a:solidFill>
                  <a:srgbClr val="B9C3D6"/>
                </a:solidFill>
                <a:latin typeface="Segoe UI"/>
              </a:rPr>
              <a:t> confirm the open assumptions with HR, add exit reasons, and extend the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35040"/>
            <a:ext cx="11002975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Thank you.</a:t>
            </a:r>
            <a:endParaRPr sz="1500" b="1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3702</Words>
  <Application>Microsoft Office PowerPoint</Application>
  <PresentationFormat>Widescreen</PresentationFormat>
  <Paragraphs>397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Bishoy Mokhless Khela AbdAllah</cp:lastModifiedBy>
  <cp:revision>2</cp:revision>
  <dcterms:created xsi:type="dcterms:W3CDTF">2013-01-27T09:14:16Z</dcterms:created>
  <dcterms:modified xsi:type="dcterms:W3CDTF">2026-09-30T13:00:19Z</dcterms:modified>
  <cp:category/>
</cp:coreProperties>
</file>